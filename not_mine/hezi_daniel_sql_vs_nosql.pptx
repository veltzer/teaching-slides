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slides/_rels/slide3.xml.rels" ContentType="application/vnd.openxmlformats-package.relationships+xml"/>
  <Override PartName="/ppt/slides/_rels/slide25.xml.rels" ContentType="application/vnd.openxmlformats-package.relationships+xml"/>
  <Override PartName="/ppt/slides/_rels/slide19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_rels/slide12.xml.rels" ContentType="application/vnd.openxmlformats-package.relationships+xml"/>
  <Override PartName="/ppt/slides/_rels/slide27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7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20.xml.rels" ContentType="application/vnd.openxmlformats-package.relationships+xml"/>
  <Override PartName="/ppt/slides/_rels/slide31.xml.rels" ContentType="application/vnd.openxmlformats-package.relationships+xml"/>
  <Override PartName="/ppt/slides/_rels/slide14.xml.rels" ContentType="application/vnd.openxmlformats-package.relationships+xml"/>
  <Override PartName="/ppt/slides/_rels/slide22.xml.rels" ContentType="application/vnd.openxmlformats-package.relationships+xml"/>
  <Override PartName="/ppt/slides/_rels/slide30.xml.rels" ContentType="application/vnd.openxmlformats-package.relationships+xml"/>
  <Override PartName="/ppt/slides/_rels/slide32.xml.rels" ContentType="application/vnd.openxmlformats-package.relationships+xml"/>
  <Override PartName="/ppt/slides/_rels/slide21.xml.rels" ContentType="application/vnd.openxmlformats-package.relationships+xml"/>
  <Override PartName="/ppt/slides/_rels/slide28.xml.rels" ContentType="application/vnd.openxmlformats-package.relationships+xml"/>
  <Override PartName="/ppt/slides/_rels/slide6.xml.rels" ContentType="application/vnd.openxmlformats-package.relationships+xml"/>
  <Override PartName="/ppt/slides/_rels/slide29.xml.rels" ContentType="application/vnd.openxmlformats-package.relationships+xml"/>
  <Override PartName="/ppt/slides/_rels/slide7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s/slide26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29.xml" ContentType="application/vnd.openxmlformats-officedocument.presentationml.slide+xml"/>
  <Override PartName="/ppt/slides/slide22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33.xml" ContentType="application/vnd.openxmlformats-officedocument.presentationml.slide+xml"/>
  <Override PartName="/ppt/slides/slide6.xml" ContentType="application/vnd.openxmlformats-officedocument.presentationml.slide+xml"/>
  <Override PartName="/ppt/slides/slide28.xml" ContentType="application/vnd.openxmlformats-officedocument.presentationml.slide+xml"/>
  <Override PartName="/ppt/slides/slide34.xml" ContentType="application/vnd.openxmlformats-officedocument.presentationml.slide+xml"/>
  <Override PartName="/ppt/slides/slide19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24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_rels/presentation.xml.rels" ContentType="application/vnd.openxmlformats-package.relationships+xml"/>
  <Override PartName="/ppt/media/image9.png" ContentType="image/png"/>
  <Override PartName="/ppt/media/image10.png" ContentType="image/png"/>
  <Override PartName="/ppt/media/image8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7.png" ContentType="image/png"/>
  <Override PartName="/ppt/media/image1.png" ContentType="image/png"/>
  <Override PartName="/ppt/media/image16.png" ContentType="image/png"/>
  <Override PartName="/ppt/media/image12.png" ContentType="image/png"/>
  <Override PartName="/ppt/media/image5.png" ContentType="image/png"/>
  <Override PartName="/ppt/media/image4.png" ContentType="image/png"/>
  <Override PartName="/ppt/media/image3.png" ContentType="image/png"/>
  <Override PartName="/ppt/media/image2.png" ContentType="image/png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6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94720" cy="38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5082120" y="2160720"/>
            <a:ext cx="4194720" cy="38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ubTitle"/>
          </p:nvPr>
        </p:nvSpPr>
        <p:spPr>
          <a:xfrm>
            <a:off x="677160" y="609480"/>
            <a:ext cx="8596440" cy="6122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5082120" y="2160720"/>
            <a:ext cx="4194720" cy="38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77160" y="41875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94720" cy="38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5082120" y="21607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5082120" y="41875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082120" y="21607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77160" y="4187520"/>
            <a:ext cx="859644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77160" y="4187520"/>
            <a:ext cx="859644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5082120" y="21607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677160" y="41875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5082120" y="41875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276768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3583440" y="2160720"/>
            <a:ext cx="276768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490080" y="2160720"/>
            <a:ext cx="276768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677160" y="4187520"/>
            <a:ext cx="276768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body"/>
          </p:nvPr>
        </p:nvSpPr>
        <p:spPr>
          <a:xfrm>
            <a:off x="3583440" y="4187520"/>
            <a:ext cx="276768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62" name="PlaceHolder 7"/>
          <p:cNvSpPr>
            <a:spLocks noGrp="1"/>
          </p:cNvSpPr>
          <p:nvPr>
            <p:ph type="body"/>
          </p:nvPr>
        </p:nvSpPr>
        <p:spPr>
          <a:xfrm>
            <a:off x="6490080" y="4187520"/>
            <a:ext cx="276768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94720" cy="38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5082120" y="2160720"/>
            <a:ext cx="4194720" cy="38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ubTitle"/>
          </p:nvPr>
        </p:nvSpPr>
        <p:spPr>
          <a:xfrm>
            <a:off x="677160" y="609480"/>
            <a:ext cx="8596440" cy="6122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5082120" y="2160720"/>
            <a:ext cx="4194720" cy="38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77160" y="41875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94720" cy="3880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5082120" y="21607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5082120" y="41875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082120" y="21607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677160" y="4187520"/>
            <a:ext cx="859644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77160" y="4187520"/>
            <a:ext cx="859644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5082120" y="21607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677160" y="41875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body"/>
          </p:nvPr>
        </p:nvSpPr>
        <p:spPr>
          <a:xfrm>
            <a:off x="5082120" y="4187520"/>
            <a:ext cx="419472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276768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3583440" y="2160720"/>
            <a:ext cx="276768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6490080" y="2160720"/>
            <a:ext cx="276768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body"/>
          </p:nvPr>
        </p:nvSpPr>
        <p:spPr>
          <a:xfrm>
            <a:off x="677160" y="4187520"/>
            <a:ext cx="276768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13" name="PlaceHolder 6"/>
          <p:cNvSpPr>
            <a:spLocks noGrp="1"/>
          </p:cNvSpPr>
          <p:nvPr>
            <p:ph type="body"/>
          </p:nvPr>
        </p:nvSpPr>
        <p:spPr>
          <a:xfrm>
            <a:off x="3583440" y="4187520"/>
            <a:ext cx="276768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14" name="PlaceHolder 7"/>
          <p:cNvSpPr>
            <a:spLocks noGrp="1"/>
          </p:cNvSpPr>
          <p:nvPr>
            <p:ph type="body"/>
          </p:nvPr>
        </p:nvSpPr>
        <p:spPr>
          <a:xfrm>
            <a:off x="6490080" y="4187520"/>
            <a:ext cx="2767680" cy="1850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1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1" name="Line 2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cap="rnd" w="9360">
              <a:solidFill>
                <a:schemeClr val="accent1">
                  <a:alpha val="7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" name="Line 3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cap="rnd" w="9360">
              <a:solidFill>
                <a:schemeClr val="accent1">
                  <a:alpha val="7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" name="CustomShape 4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4" name="CustomShape 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5" name="CustomShape 6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" name="CustomShape 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" name="CustomShape 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8" name="CustomShape 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9" name="CustomShape 10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0" name="CustomShape 11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grpSp>
        <p:nvGrpSpPr>
          <p:cNvPr id="11" name="Group 12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12" name="CustomShape 13"/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/>
              <a:ah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3" name="Line 14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cap="rnd" w="9360">
              <a:solidFill>
                <a:schemeClr val="accent1">
                  <a:alpha val="7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" name="Line 15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cap="rnd" w="9360">
              <a:solidFill>
                <a:schemeClr val="accent1">
                  <a:alpha val="7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" name="CustomShape 16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6" name="CustomShape 17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7" name="CustomShape 18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8" name="CustomShape 19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9" name="CustomShape 20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20" name="CustomShape 21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21" name="CustomShape 22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sp>
        <p:nvSpPr>
          <p:cNvPr id="22" name="PlaceHolder 23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r>
              <a:rPr b="0" lang="en-US" sz="5400" spc="-1" strike="noStrike">
                <a:solidFill>
                  <a:srgbClr val="5fcbef"/>
                </a:solidFill>
                <a:latin typeface="Trebuchet MS"/>
              </a:rPr>
              <a:t>Click to edit Master title style</a:t>
            </a:r>
            <a:endParaRPr b="0" lang="en-US" sz="54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3" name="PlaceHolder 24"/>
          <p:cNvSpPr>
            <a:spLocks noGrp="1"/>
          </p:cNvSpPr>
          <p:nvPr>
            <p:ph type="dt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8A3E0732-39CB-465E-8FC8-B2C040C0D38B}" type="datetime">
              <a:rPr b="0" lang="en-US" sz="900" spc="-1" strike="noStrike">
                <a:solidFill>
                  <a:srgbClr val="8b8b8b"/>
                </a:solidFill>
                <a:latin typeface="Trebuchet MS"/>
              </a:rPr>
              <a:t>1/6/20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24" name="PlaceHolder 25"/>
          <p:cNvSpPr>
            <a:spLocks noGrp="1"/>
          </p:cNvSpPr>
          <p:nvPr>
            <p:ph type="ftr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25" name="PlaceHolder 26"/>
          <p:cNvSpPr>
            <a:spLocks noGrp="1"/>
          </p:cNvSpPr>
          <p:nvPr>
            <p:ph type="sldNum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93487896-1199-4EA4-AC26-0BE93587102E}" type="slidenum">
              <a:rPr b="0" lang="en-US" sz="900" spc="-1" strike="noStrike">
                <a:solidFill>
                  <a:srgbClr val="5fcbef"/>
                </a:solidFill>
                <a:latin typeface="Trebuchet MS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26" name="PlaceHolder 27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Click to edit the outline text format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404040"/>
                </a:solidFill>
                <a:latin typeface="Trebuchet MS"/>
              </a:rPr>
              <a:t>Second Outline Level</a:t>
            </a:r>
            <a:endParaRPr b="0" lang="en-US" sz="1400" spc="-1" strike="noStrike">
              <a:solidFill>
                <a:srgbClr val="404040"/>
              </a:solidFill>
              <a:latin typeface="Trebuchet M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Third Outline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Fourth Outline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Fifth Outline Level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Sixth Outline Level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Seventh Outline Level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1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64" name="Line 2"/>
            <p:cNvSpPr/>
            <p:nvPr/>
          </p:nvSpPr>
          <p:spPr>
            <a:xfrm>
              <a:off x="9370800" y="0"/>
              <a:ext cx="1219320" cy="6858000"/>
            </a:xfrm>
            <a:prstGeom prst="line">
              <a:avLst/>
            </a:prstGeom>
            <a:ln cap="rnd" w="9360">
              <a:solidFill>
                <a:schemeClr val="accent1">
                  <a:alpha val="7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5" name="Line 3"/>
            <p:cNvSpPr/>
            <p:nvPr/>
          </p:nvSpPr>
          <p:spPr>
            <a:xfrm flipH="1">
              <a:off x="7425000" y="3681360"/>
              <a:ext cx="4763520" cy="3176640"/>
            </a:xfrm>
            <a:prstGeom prst="line">
              <a:avLst/>
            </a:prstGeom>
            <a:ln cap="rnd" w="9360">
              <a:solidFill>
                <a:schemeClr val="accent1">
                  <a:alpha val="7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6" name="CustomShape 4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7" name="CustomShape 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8" name="CustomShape 6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9" name="CustomShape 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0" name="CustomShape 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1" name="CustomShape 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2" name="CustomShape 10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3" name="CustomShape 11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0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sp>
        <p:nvSpPr>
          <p:cNvPr id="74" name="PlaceHolder 12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Click to edit Master title style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5" name="PlaceHolder 13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Second level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2" marL="1143000" indent="-2282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rgbClr val="404040"/>
                </a:solidFill>
                <a:latin typeface="Trebuchet MS"/>
              </a:rPr>
              <a:t>Third level</a:t>
            </a:r>
            <a:endParaRPr b="0" lang="en-US" sz="1400" spc="-1" strike="noStrike">
              <a:solidFill>
                <a:srgbClr val="404040"/>
              </a:solidFill>
              <a:latin typeface="Trebuchet MS"/>
            </a:endParaRPr>
          </a:p>
          <a:p>
            <a:pPr lvl="3" marL="1600200" indent="-2282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Fourth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  <a:p>
            <a:pPr lvl="4" marL="2057400" indent="-2282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rgbClr val="404040"/>
                </a:solidFill>
                <a:latin typeface="Trebuchet MS"/>
              </a:rPr>
              <a:t>Fifth level</a:t>
            </a:r>
            <a:endParaRPr b="0" lang="en-US" sz="12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76" name="PlaceHolder 14"/>
          <p:cNvSpPr>
            <a:spLocks noGrp="1"/>
          </p:cNvSpPr>
          <p:nvPr>
            <p:ph type="dt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BC0C934F-924A-4C19-9EC6-F09650A4861F}" type="datetime">
              <a:rPr b="0" lang="en-US" sz="900" spc="-1" strike="noStrike">
                <a:solidFill>
                  <a:srgbClr val="8b8b8b"/>
                </a:solidFill>
                <a:latin typeface="Trebuchet MS"/>
              </a:rPr>
              <a:t>1/6/20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77" name="PlaceHolder 15"/>
          <p:cNvSpPr>
            <a:spLocks noGrp="1"/>
          </p:cNvSpPr>
          <p:nvPr>
            <p:ph type="ftr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78" name="PlaceHolder 16"/>
          <p:cNvSpPr>
            <a:spLocks noGrp="1"/>
          </p:cNvSpPr>
          <p:nvPr>
            <p:ph type="sldNum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DDC14C03-CA02-428E-BFDA-594471D9945F}" type="slidenum">
              <a:rPr b="0" lang="en-US" sz="900" spc="-1" strike="noStrike">
                <a:solidFill>
                  <a:srgbClr val="5fcbef"/>
                </a:solidFill>
                <a:latin typeface="Trebuchet MS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Shape 1"/>
          <p:cNvSpPr txBox="1"/>
          <p:nvPr/>
        </p:nvSpPr>
        <p:spPr>
          <a:xfrm>
            <a:off x="1171080" y="508320"/>
            <a:ext cx="7766640" cy="292032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</a:pPr>
            <a:r>
              <a:rPr b="0" lang="en-US" sz="5400" spc="-1" strike="noStrike">
                <a:solidFill>
                  <a:srgbClr val="5fcbef"/>
                </a:solidFill>
                <a:latin typeface="Trebuchet MS"/>
              </a:rPr>
              <a:t>	</a:t>
            </a:r>
            <a:r>
              <a:rPr b="0" lang="en-US" sz="5400" spc="-1" strike="noStrike">
                <a:solidFill>
                  <a:srgbClr val="5fcbef"/>
                </a:solidFill>
                <a:latin typeface="Trebuchet MS"/>
              </a:rPr>
              <a:t>	</a:t>
            </a:r>
            <a:r>
              <a:rPr b="0" lang="en-US" sz="5400" spc="-1" strike="noStrike">
                <a:solidFill>
                  <a:srgbClr val="5fcbef"/>
                </a:solidFill>
                <a:latin typeface="Trebuchet MS"/>
              </a:rPr>
              <a:t>    </a:t>
            </a:r>
            <a:r>
              <a:rPr b="1" lang="en-US" sz="8800" spc="-1" strike="noStrike">
                <a:solidFill>
                  <a:srgbClr val="dff5fc"/>
                </a:solidFill>
                <a:latin typeface="Trebuchet MS"/>
              </a:rPr>
              <a:t>Databases</a:t>
            </a:r>
            <a:br/>
            <a:br/>
            <a:endParaRPr b="0" lang="en-US" sz="8800" spc="-1" strike="noStrike">
              <a:solidFill>
                <a:srgbClr val="000000"/>
              </a:solidFill>
              <a:latin typeface="Trebuchet MS"/>
            </a:endParaRPr>
          </a:p>
        </p:txBody>
      </p:sp>
      <p:pic>
        <p:nvPicPr>
          <p:cNvPr id="116" name="Picture 3" descr=""/>
          <p:cNvPicPr/>
          <p:nvPr/>
        </p:nvPicPr>
        <p:blipFill>
          <a:blip r:embed="rId1"/>
          <a:stretch/>
        </p:blipFill>
        <p:spPr>
          <a:xfrm>
            <a:off x="3019680" y="1876320"/>
            <a:ext cx="5438520" cy="3104640"/>
          </a:xfrm>
          <a:prstGeom prst="rect">
            <a:avLst/>
          </a:prstGeom>
          <a:ln>
            <a:noFill/>
          </a:ln>
        </p:spPr>
      </p:pic>
      <p:pic>
        <p:nvPicPr>
          <p:cNvPr id="117" name="Picture 2" descr=""/>
          <p:cNvPicPr/>
          <p:nvPr/>
        </p:nvPicPr>
        <p:blipFill>
          <a:blip r:embed="rId2"/>
          <a:stretch/>
        </p:blipFill>
        <p:spPr>
          <a:xfrm>
            <a:off x="4596120" y="4981680"/>
            <a:ext cx="1796040" cy="1784160"/>
          </a:xfrm>
          <a:prstGeom prst="rect">
            <a:avLst/>
          </a:prstGeom>
          <a:ln>
            <a:noFill/>
          </a:ln>
        </p:spPr>
      </p:pic>
      <p:sp>
        <p:nvSpPr>
          <p:cNvPr id="118" name="CustomShape 2"/>
          <p:cNvSpPr/>
          <p:nvPr/>
        </p:nvSpPr>
        <p:spPr>
          <a:xfrm>
            <a:off x="377280" y="5472000"/>
            <a:ext cx="2527920" cy="118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rebuchet MS"/>
              </a:rPr>
              <a:t>Hezi Daniel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rebuchet MS"/>
              </a:rPr>
              <a:t>FLP-RT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rebuchet MS"/>
              </a:rPr>
              <a:t>Nov, 2019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rebuchet MS"/>
              </a:rPr>
              <a:t>SAP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Shape 1"/>
          <p:cNvSpPr txBox="1"/>
          <p:nvPr/>
        </p:nvSpPr>
        <p:spPr>
          <a:xfrm>
            <a:off x="677160" y="156240"/>
            <a:ext cx="8596440" cy="8110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5fcbef"/>
                </a:solidFill>
                <a:latin typeface="Trebuchet MS"/>
              </a:rPr>
              <a:t>Agenda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20" name="TextShape 2"/>
          <p:cNvSpPr txBox="1"/>
          <p:nvPr/>
        </p:nvSpPr>
        <p:spPr>
          <a:xfrm>
            <a:off x="677160" y="913680"/>
            <a:ext cx="8596440" cy="578772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8000"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RDBMS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: 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Theory – What is a relational DB and how it works?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What does ACID mean?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Advantages and disadvantages of relational DBs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RDBMS Standardization 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Example of DBs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The CAP (Consistency, Availability &amp; Partition tolerance) theorem 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4 minutes Demo of a "layer" DB (If time remains( 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NoSQL database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: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Theory – What is NoSQL DB?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How does it work?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Advantages and disadvantages of NoSQL DBs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Example of DBs (open source and propriety) and the differences between them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When should we use a NoSQL DB and when an RDBMS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US" sz="1800" spc="-1" strike="noStrike">
                <a:solidFill>
                  <a:srgbClr val="404040"/>
                </a:solidFill>
                <a:latin typeface="Trebuchet MS"/>
              </a:rPr>
              <a:t>Google spanner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: </a:t>
            </a:r>
            <a:endParaRPr b="0" lang="en-US" sz="1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What is it and how does it work?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rgbClr val="404040"/>
                </a:solidFill>
                <a:latin typeface="Trebuchet MS"/>
              </a:rPr>
              <a:t>Is it a game changer for the DBs market?</a:t>
            </a: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16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Why do we need a DB for?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22" name="TextShape 2"/>
          <p:cNvSpPr txBox="1"/>
          <p:nvPr/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404040"/>
                </a:solidFill>
                <a:latin typeface="Trebuchet MS"/>
              </a:rPr>
              <a:t>Responsible of R/W from file and let me leave in a “data world”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404040"/>
                </a:solidFill>
                <a:latin typeface="Trebuchet MS"/>
              </a:rPr>
              <a:t>Indexing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404040"/>
                </a:solidFill>
                <a:latin typeface="Trebuchet MS"/>
              </a:rPr>
              <a:t>The important reason for using an DB is to let multiple agents to work simultaneously on the same data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677160" y="514800"/>
            <a:ext cx="8596440" cy="5526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RDBMS stands for </a:t>
            </a:r>
            <a:r>
              <a:rPr b="0" lang="en-US" sz="3600" spc="-1" strike="noStrike">
                <a:solidFill>
                  <a:srgbClr val="ff0000"/>
                </a:solidFill>
                <a:latin typeface="Trebuchet MS"/>
              </a:rPr>
              <a:t>R</a:t>
            </a: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elational </a:t>
            </a:r>
            <a:r>
              <a:rPr b="0" lang="en-US" sz="3600" spc="-1" strike="noStrike">
                <a:solidFill>
                  <a:srgbClr val="ff0000"/>
                </a:solidFill>
                <a:latin typeface="Trebuchet MS"/>
              </a:rPr>
              <a:t>D</a:t>
            </a: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ata</a:t>
            </a:r>
            <a:r>
              <a:rPr b="0" lang="en-US" sz="3600" spc="-1" strike="noStrike">
                <a:solidFill>
                  <a:srgbClr val="ff0000"/>
                </a:solidFill>
                <a:latin typeface="Trebuchet MS"/>
              </a:rPr>
              <a:t>B</a:t>
            </a: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ase </a:t>
            </a:r>
            <a:r>
              <a:rPr b="0" lang="en-US" sz="3600" spc="-1" strike="noStrike">
                <a:solidFill>
                  <a:srgbClr val="ff0000"/>
                </a:solidFill>
                <a:latin typeface="Trebuchet MS"/>
              </a:rPr>
              <a:t>M</a:t>
            </a: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anagement </a:t>
            </a:r>
            <a:r>
              <a:rPr b="0" lang="en-US" sz="3600" spc="-1" strike="noStrike">
                <a:solidFill>
                  <a:srgbClr val="ff0000"/>
                </a:solidFill>
                <a:latin typeface="Trebuchet MS"/>
              </a:rPr>
              <a:t>S</a:t>
            </a: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ystem</a:t>
            </a: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Data is stored in the form of tables, and there is a relationship between those tables</a:t>
            </a: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677160" y="514800"/>
            <a:ext cx="8596440" cy="5526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RDBMS can be defined as followed:</a:t>
            </a: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 lvl="2" marL="1143000" indent="-2282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404040"/>
                </a:solidFill>
                <a:latin typeface="Trebuchet MS"/>
              </a:rPr>
              <a:t>a decreases exponent in the sizes of the tables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 lvl="2" marL="1143000" indent="-2282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404040"/>
                </a:solidFill>
                <a:latin typeface="Trebuchet MS"/>
              </a:rPr>
              <a:t>Few (2-3) very big tables with a lots of work on them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 lvl="2" marL="1143000" indent="-2282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As the size of the table decreases, it has less operations on it</a:t>
            </a: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 lvl="2" marL="1143000" indent="-22824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The large tail of RDBMS is many table that rarely change</a:t>
            </a: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RDBMS – Problems that it solves for us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26" name="TextShape 2"/>
          <p:cNvSpPr txBox="1"/>
          <p:nvPr/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What happen if someone changes the same data that I have already read but still did not commit?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What happen if I’m changing a value that other users read at the same time?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What happen if I want to do sequence of operations and don’t want anyone to see the data in between?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Shape 1"/>
          <p:cNvSpPr txBox="1"/>
          <p:nvPr/>
        </p:nvSpPr>
        <p:spPr>
          <a:xfrm>
            <a:off x="677160" y="514800"/>
            <a:ext cx="8596440" cy="55260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8000"/>
          </a:bodyPr>
          <a:p>
            <a:pPr marL="2743200">
              <a:lnSpc>
                <a:spcPct val="100000"/>
              </a:lnSpc>
              <a:spcBef>
                <a:spcPts val="1001"/>
              </a:spcBef>
            </a:pPr>
            <a:r>
              <a:rPr b="1" lang="en-US" sz="4800" spc="-1" strike="noStrike" u="sng">
                <a:solidFill>
                  <a:srgbClr val="404040"/>
                </a:solidFill>
                <a:uFillTx/>
                <a:latin typeface="Trebuchet MS"/>
              </a:rPr>
              <a:t>Transactions</a:t>
            </a:r>
            <a:endParaRPr b="0" lang="en-US" sz="4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An action, or a series of actions, carried out by a single user or an application program, which reads or updates the contents of a database.</a:t>
            </a: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In other words - Transaction is a collection of actions on the DB that moves the DB from one consistent state to another consistent state</a:t>
            </a: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Shape 1"/>
          <p:cNvSpPr txBox="1"/>
          <p:nvPr/>
        </p:nvSpPr>
        <p:spPr>
          <a:xfrm>
            <a:off x="677160" y="514800"/>
            <a:ext cx="8596440" cy="5526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US" sz="4400" spc="-1" strike="noStrike">
                <a:solidFill>
                  <a:srgbClr val="ff0000"/>
                </a:solidFill>
                <a:latin typeface="Trebuchet MS"/>
              </a:rPr>
              <a:t>The ACID Properties</a:t>
            </a:r>
            <a:r>
              <a:rPr b="1" lang="en-US" sz="3600" spc="-1" strike="noStrike">
                <a:solidFill>
                  <a:srgbClr val="ff0000"/>
                </a:solidFill>
                <a:latin typeface="Trebuchet MS"/>
              </a:rPr>
              <a:t> – </a:t>
            </a: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4400" spc="-1" strike="noStrike">
                <a:solidFill>
                  <a:srgbClr val="404040"/>
                </a:solidFill>
                <a:latin typeface="Trebuchet MS"/>
              </a:rPr>
              <a:t>Four properties are used to define transactions: the </a:t>
            </a:r>
            <a:r>
              <a:rPr b="1" lang="en-US" sz="4400" spc="-1" strike="noStrike">
                <a:solidFill>
                  <a:srgbClr val="404040"/>
                </a:solidFill>
                <a:latin typeface="Trebuchet MS"/>
              </a:rPr>
              <a:t>ACID</a:t>
            </a:r>
            <a:r>
              <a:rPr b="0" lang="en-US" sz="4400" spc="-1" strike="noStrike">
                <a:solidFill>
                  <a:srgbClr val="404040"/>
                </a:solidFill>
                <a:latin typeface="Trebuchet MS"/>
              </a:rPr>
              <a:t> properties</a:t>
            </a:r>
            <a:endParaRPr b="0" lang="en-US" sz="4400" spc="-1" strike="noStrike">
              <a:solidFill>
                <a:srgbClr val="404040"/>
              </a:solidFill>
              <a:latin typeface="Trebuchet MS"/>
            </a:endParaRPr>
          </a:p>
          <a:p>
            <a:pPr marL="457200">
              <a:lnSpc>
                <a:spcPct val="100000"/>
              </a:lnSpc>
              <a:spcBef>
                <a:spcPts val="1001"/>
              </a:spcBef>
            </a:pPr>
            <a:r>
              <a:rPr b="0" lang="en-US" sz="4400" spc="-1" strike="noStrike">
                <a:solidFill>
                  <a:srgbClr val="404040"/>
                </a:solidFill>
                <a:latin typeface="Trebuchet MS"/>
              </a:rPr>
              <a:t> </a:t>
            </a:r>
            <a:endParaRPr b="0" lang="en-US" sz="44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29" name="CustomShape 2"/>
          <p:cNvSpPr/>
          <p:nvPr/>
        </p:nvSpPr>
        <p:spPr>
          <a:xfrm rot="19652400">
            <a:off x="1465920" y="4717440"/>
            <a:ext cx="121896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ff0000"/>
                </a:solidFill>
                <a:latin typeface="Trebuchet MS"/>
              </a:rPr>
              <a:t>A</a:t>
            </a:r>
            <a:r>
              <a:rPr b="0" lang="en-US" sz="1800" spc="-1" strike="noStrike">
                <a:solidFill>
                  <a:srgbClr val="000000"/>
                </a:solidFill>
                <a:latin typeface="Trebuchet MS"/>
              </a:rPr>
              <a:t>tomicity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0" name="CustomShape 3"/>
          <p:cNvSpPr/>
          <p:nvPr/>
        </p:nvSpPr>
        <p:spPr>
          <a:xfrm rot="19238400">
            <a:off x="2771280" y="4717800"/>
            <a:ext cx="153468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ff0000"/>
                </a:solidFill>
                <a:latin typeface="Trebuchet MS"/>
              </a:rPr>
              <a:t>C</a:t>
            </a:r>
            <a:r>
              <a:rPr b="0" lang="en-US" sz="1800" spc="-1" strike="noStrike">
                <a:solidFill>
                  <a:srgbClr val="000000"/>
                </a:solidFill>
                <a:latin typeface="Trebuchet MS"/>
              </a:rPr>
              <a:t>onsistency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1" name="CustomShape 4"/>
          <p:cNvSpPr/>
          <p:nvPr/>
        </p:nvSpPr>
        <p:spPr>
          <a:xfrm rot="18840000">
            <a:off x="4343040" y="4717800"/>
            <a:ext cx="121896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ff0000"/>
                </a:solidFill>
                <a:latin typeface="Trebuchet MS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Trebuchet MS"/>
              </a:rPr>
              <a:t>solation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2" name="CustomShape 5"/>
          <p:cNvSpPr/>
          <p:nvPr/>
        </p:nvSpPr>
        <p:spPr>
          <a:xfrm rot="18934800">
            <a:off x="5834880" y="4768560"/>
            <a:ext cx="1285560" cy="45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ff0000"/>
                </a:solidFill>
                <a:latin typeface="Trebuchet MS"/>
              </a:rPr>
              <a:t>D</a:t>
            </a:r>
            <a:r>
              <a:rPr b="0" lang="en-US" sz="1800" spc="-1" strike="noStrike">
                <a:solidFill>
                  <a:srgbClr val="000000"/>
                </a:solidFill>
                <a:latin typeface="Trebuchet MS"/>
              </a:rPr>
              <a:t>urability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Shape 1"/>
          <p:cNvSpPr txBox="1"/>
          <p:nvPr/>
        </p:nvSpPr>
        <p:spPr>
          <a:xfrm>
            <a:off x="677160" y="362520"/>
            <a:ext cx="8596440" cy="634284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39000"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US" sz="3600" spc="-1" strike="noStrike">
                <a:solidFill>
                  <a:srgbClr val="ff0000"/>
                </a:solidFill>
                <a:latin typeface="Trebuchet MS"/>
              </a:rPr>
              <a:t>Atomicity</a:t>
            </a: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 – A transaction is an atomic unit of processing; It should either be performed in its entirety or not performed at all</a:t>
            </a: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US" sz="3600" spc="-1" strike="noStrike">
                <a:solidFill>
                  <a:srgbClr val="ff0000"/>
                </a:solidFill>
                <a:latin typeface="Trebuchet MS"/>
              </a:rPr>
              <a:t>Consistency</a:t>
            </a: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 – Means that the DB keeps his answers consistent with me (otherwise I could not do any program)</a:t>
            </a: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US" sz="3600" spc="-1" strike="noStrike">
                <a:solidFill>
                  <a:srgbClr val="ff0000"/>
                </a:solidFill>
                <a:latin typeface="Trebuchet MS"/>
              </a:rPr>
              <a:t>Isolation</a:t>
            </a: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 – A transaction should appear as though it is being executed in isolation from other transactions, even though many transactions are executing concurrently</a:t>
            </a: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US" sz="3600" spc="-1" strike="noStrike">
                <a:solidFill>
                  <a:srgbClr val="ff0000"/>
                </a:solidFill>
                <a:latin typeface="Trebuchet MS"/>
              </a:rPr>
              <a:t>Durability</a:t>
            </a: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 – guarantees that  transactions that have committed will survive permanently. These changes must not be lost because of any failure</a:t>
            </a:r>
            <a:r>
              <a:rPr b="1" lang="en-US" sz="3600" spc="-1" strike="noStrike">
                <a:solidFill>
                  <a:srgbClr val="ff0000"/>
                </a:solidFill>
                <a:latin typeface="Trebuchet MS"/>
              </a:rPr>
              <a:t>          </a:t>
            </a: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ustomShape 1"/>
          <p:cNvSpPr/>
          <p:nvPr/>
        </p:nvSpPr>
        <p:spPr>
          <a:xfrm>
            <a:off x="1380960" y="1707840"/>
            <a:ext cx="2390760" cy="3441600"/>
          </a:xfrm>
          <a:prstGeom prst="flowChartConnector">
            <a:avLst/>
          </a:prstGeom>
          <a:solidFill>
            <a:schemeClr val="accent1">
              <a:alpha val="17000"/>
            </a:scheme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" name="CustomShape 2"/>
          <p:cNvSpPr/>
          <p:nvPr/>
        </p:nvSpPr>
        <p:spPr>
          <a:xfrm>
            <a:off x="6067080" y="1721880"/>
            <a:ext cx="2375280" cy="3441600"/>
          </a:xfrm>
          <a:prstGeom prst="flowChartConnector">
            <a:avLst/>
          </a:prstGeom>
          <a:solidFill>
            <a:schemeClr val="accent1">
              <a:alpha val="17000"/>
            </a:scheme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6" name="CustomShape 3"/>
          <p:cNvSpPr/>
          <p:nvPr/>
        </p:nvSpPr>
        <p:spPr>
          <a:xfrm>
            <a:off x="1647720" y="2095560"/>
            <a:ext cx="185688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ff0000"/>
                </a:solidFill>
                <a:latin typeface="Trebuchet MS"/>
              </a:rPr>
              <a:t>Atomicity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7" name="CustomShape 4"/>
          <p:cNvSpPr/>
          <p:nvPr/>
        </p:nvSpPr>
        <p:spPr>
          <a:xfrm>
            <a:off x="1647720" y="2919600"/>
            <a:ext cx="214272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ff0000"/>
                </a:solidFill>
                <a:latin typeface="Trebuchet MS"/>
              </a:rPr>
              <a:t>Consistency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8" name="CustomShape 5"/>
          <p:cNvSpPr/>
          <p:nvPr/>
        </p:nvSpPr>
        <p:spPr>
          <a:xfrm>
            <a:off x="1714320" y="3859560"/>
            <a:ext cx="214272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ff0000"/>
                </a:solidFill>
                <a:latin typeface="Trebuchet MS"/>
              </a:rPr>
              <a:t>Isolation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9" name="CustomShape 6"/>
          <p:cNvSpPr/>
          <p:nvPr/>
        </p:nvSpPr>
        <p:spPr>
          <a:xfrm>
            <a:off x="6326280" y="2910600"/>
            <a:ext cx="185688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ff0000"/>
                </a:solidFill>
                <a:latin typeface="Trebuchet MS"/>
              </a:rPr>
              <a:t>Durability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0" name="CustomShape 7"/>
          <p:cNvSpPr/>
          <p:nvPr/>
        </p:nvSpPr>
        <p:spPr>
          <a:xfrm>
            <a:off x="4028400" y="925560"/>
            <a:ext cx="1608840" cy="91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>
            <a:spAutoFit/>
          </a:bodyPr>
          <a:p>
            <a:pPr algn="ctr">
              <a:lnSpc>
                <a:spcPct val="100000"/>
              </a:lnSpc>
            </a:pPr>
            <a:r>
              <a:rPr b="0" lang="en-US" sz="5400" spc="-1" strike="noStrike">
                <a:solidFill>
                  <a:srgbClr val="5fcbef"/>
                </a:solidFill>
                <a:latin typeface="Trebuchet MS"/>
              </a:rPr>
              <a:t>ACID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141" name="Line 8"/>
          <p:cNvSpPr/>
          <p:nvPr/>
        </p:nvSpPr>
        <p:spPr>
          <a:xfrm>
            <a:off x="4832640" y="1848600"/>
            <a:ext cx="1582200" cy="37728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2" name="Line 9"/>
          <p:cNvSpPr/>
          <p:nvPr/>
        </p:nvSpPr>
        <p:spPr>
          <a:xfrm flipH="1">
            <a:off x="3421800" y="1848600"/>
            <a:ext cx="1410840" cy="36324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Shape 1"/>
          <p:cNvSpPr txBox="1"/>
          <p:nvPr/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Durability - solution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44" name="TextShape 2"/>
          <p:cNvSpPr txBox="1"/>
          <p:nvPr/>
        </p:nvSpPr>
        <p:spPr>
          <a:xfrm>
            <a:off x="677160" y="1276200"/>
            <a:ext cx="8596440" cy="528588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1000"/>
          </a:bodyPr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It consist of 2 aspects:</a:t>
            </a: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1. Improving the performance by using a </a:t>
            </a: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	</a:t>
            </a: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	</a:t>
            </a: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   </a:t>
            </a:r>
            <a:r>
              <a:rPr b="1" lang="en-US" sz="3600" spc="-1" strike="noStrike">
                <a:solidFill>
                  <a:srgbClr val="404040"/>
                </a:solidFill>
                <a:latin typeface="Trebuchet MS"/>
              </a:rPr>
              <a:t>transaction log</a:t>
            </a: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 that allows:</a:t>
            </a: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400" spc="-1" strike="noStrike">
                <a:solidFill>
                  <a:srgbClr val="404040"/>
                </a:solidFill>
                <a:latin typeface="Trebuchet MS"/>
              </a:rPr>
              <a:t>Multiple users to write simultaneously </a:t>
            </a:r>
            <a:endParaRPr b="0" lang="en-US" sz="34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Improve DB performance</a:t>
            </a:r>
            <a:endParaRPr b="0" lang="en-US" sz="36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600" spc="-1" strike="noStrike">
                <a:solidFill>
                  <a:srgbClr val="404040"/>
                </a:solidFill>
                <a:latin typeface="Trebuchet MS"/>
              </a:rPr>
              <a:t>2. </a:t>
            </a:r>
            <a:r>
              <a:rPr b="0" lang="en-US" sz="4000" spc="-1" strike="noStrike">
                <a:solidFill>
                  <a:srgbClr val="404040"/>
                </a:solidFill>
                <a:latin typeface="Trebuchet MS"/>
              </a:rPr>
              <a:t>Integrated deeply with OS in order to bypass its caching system, so it can be 100% sure that the data was written to disc</a:t>
            </a:r>
            <a:endParaRPr b="0" lang="en-US" sz="40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Shape 1"/>
          <p:cNvSpPr txBox="1"/>
          <p:nvPr/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Concurrency 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46" name="TextShape 2"/>
          <p:cNvSpPr txBox="1"/>
          <p:nvPr/>
        </p:nvSpPr>
        <p:spPr>
          <a:xfrm>
            <a:off x="677160" y="1596240"/>
            <a:ext cx="8596440" cy="44445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404040"/>
                </a:solidFill>
                <a:latin typeface="Trebuchet MS"/>
              </a:rPr>
              <a:t>If multiple threads operate simultaneously in your application (e.g., web server), </a:t>
            </a:r>
            <a:r>
              <a:rPr b="1" lang="en-US" sz="3200" spc="-1" strike="noStrike">
                <a:solidFill>
                  <a:srgbClr val="404040"/>
                </a:solidFill>
                <a:latin typeface="Trebuchet MS"/>
              </a:rPr>
              <a:t>concurrency problems</a:t>
            </a:r>
            <a:r>
              <a:rPr b="0" i="1" lang="en-US" sz="3200" spc="-1" strike="noStrike">
                <a:solidFill>
                  <a:srgbClr val="404040"/>
                </a:solidFill>
                <a:latin typeface="Trebuchet MS"/>
              </a:rPr>
              <a:t> (we categorized them as ACID) </a:t>
            </a:r>
            <a:r>
              <a:rPr b="0" lang="en-US" sz="3200" spc="-1" strike="noStrike">
                <a:solidFill>
                  <a:srgbClr val="404040"/>
                </a:solidFill>
                <a:latin typeface="Trebuchet MS"/>
              </a:rPr>
              <a:t>may arise.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404040"/>
                </a:solidFill>
                <a:latin typeface="Trebuchet MS"/>
              </a:rPr>
              <a:t>There are three types of possible problems: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404040"/>
                </a:solidFill>
                <a:latin typeface="Trebuchet MS"/>
              </a:rPr>
              <a:t>Dirty reads,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404040"/>
                </a:solidFill>
                <a:latin typeface="Trebuchet MS"/>
              </a:rPr>
              <a:t>Unrepeatable reads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404040"/>
                </a:solidFill>
                <a:latin typeface="Trebuchet MS"/>
              </a:rPr>
              <a:t>Phantom reads.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Dirty Read Problem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pic>
        <p:nvPicPr>
          <p:cNvPr id="148" name="Content Placeholder 3" descr="dirty_reads"/>
          <p:cNvPicPr/>
          <p:nvPr/>
        </p:nvPicPr>
        <p:blipFill>
          <a:blip r:embed="rId1"/>
          <a:stretch/>
        </p:blipFill>
        <p:spPr>
          <a:xfrm>
            <a:off x="566640" y="1366920"/>
            <a:ext cx="8466120" cy="46641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Shape 1"/>
          <p:cNvSpPr txBox="1"/>
          <p:nvPr/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Unrepeatable Read Problem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pic>
        <p:nvPicPr>
          <p:cNvPr id="150" name="Picture 3" descr=""/>
          <p:cNvPicPr/>
          <p:nvPr/>
        </p:nvPicPr>
        <p:blipFill>
          <a:blip r:embed="rId1"/>
          <a:stretch/>
        </p:blipFill>
        <p:spPr>
          <a:xfrm>
            <a:off x="914400" y="1600200"/>
            <a:ext cx="8016840" cy="4713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Shape 1"/>
          <p:cNvSpPr txBox="1"/>
          <p:nvPr/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Phantom Read Problem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pic>
        <p:nvPicPr>
          <p:cNvPr id="152" name="Picture 3" descr=""/>
          <p:cNvPicPr/>
          <p:nvPr/>
        </p:nvPicPr>
        <p:blipFill>
          <a:blip r:embed="rId1"/>
          <a:stretch/>
        </p:blipFill>
        <p:spPr>
          <a:xfrm>
            <a:off x="882720" y="1468440"/>
            <a:ext cx="8024400" cy="44236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Shape 1"/>
          <p:cNvSpPr txBox="1"/>
          <p:nvPr/>
        </p:nvSpPr>
        <p:spPr>
          <a:xfrm>
            <a:off x="677160" y="609480"/>
            <a:ext cx="8596440" cy="8636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Isolation Levels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54" name="TextShape 2"/>
          <p:cNvSpPr txBox="1"/>
          <p:nvPr/>
        </p:nvSpPr>
        <p:spPr>
          <a:xfrm>
            <a:off x="677160" y="1340640"/>
            <a:ext cx="8596440" cy="4700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404040"/>
                </a:solidFill>
                <a:latin typeface="Trebuchet MS"/>
              </a:rPr>
              <a:t>To overcome these problems, databases support different </a:t>
            </a:r>
            <a:r>
              <a:rPr b="1" lang="en-US" sz="3200" spc="-1" strike="noStrike">
                <a:solidFill>
                  <a:srgbClr val="404040"/>
                </a:solidFill>
                <a:latin typeface="Trebuchet MS"/>
              </a:rPr>
              <a:t>transaction isolation levels</a:t>
            </a:r>
            <a:r>
              <a:rPr b="0" lang="en-US" sz="3200" spc="-1" strike="noStrike">
                <a:solidFill>
                  <a:srgbClr val="404040"/>
                </a:solidFill>
                <a:latin typeface="Trebuchet MS"/>
              </a:rPr>
              <a:t>, dictated by ANSI SQL: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ff0000"/>
                </a:solidFill>
                <a:latin typeface="Trebuchet MS"/>
              </a:rPr>
              <a:t>Read uncommitted  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ff0000"/>
                </a:solidFill>
                <a:latin typeface="Trebuchet MS"/>
              </a:rPr>
              <a:t>Read committed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ff0000"/>
                </a:solidFill>
                <a:latin typeface="Trebuchet MS"/>
              </a:rPr>
              <a:t>Repeatable read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ff0000"/>
                </a:solidFill>
                <a:latin typeface="Trebuchet MS"/>
              </a:rPr>
              <a:t>Serializable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55" name="CustomShape 3"/>
          <p:cNvSpPr/>
          <p:nvPr/>
        </p:nvSpPr>
        <p:spPr>
          <a:xfrm>
            <a:off x="5601960" y="3178080"/>
            <a:ext cx="319320" cy="2216520"/>
          </a:xfrm>
          <a:prstGeom prst="downArrow">
            <a:avLst>
              <a:gd name="adj1" fmla="val 50000"/>
              <a:gd name="adj2" fmla="val 50000"/>
            </a:avLst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" name="CustomShape 4"/>
          <p:cNvSpPr/>
          <p:nvPr/>
        </p:nvSpPr>
        <p:spPr>
          <a:xfrm>
            <a:off x="5837040" y="4242600"/>
            <a:ext cx="170856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2e83c3"/>
                </a:solidFill>
                <a:latin typeface="Trebuchet MS"/>
              </a:rPr>
              <a:t>Bad performance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7" name="CustomShape 5"/>
          <p:cNvSpPr/>
          <p:nvPr/>
        </p:nvSpPr>
        <p:spPr>
          <a:xfrm>
            <a:off x="7359480" y="3178080"/>
            <a:ext cx="319320" cy="2133720"/>
          </a:xfrm>
          <a:prstGeom prst="upArrow">
            <a:avLst>
              <a:gd name="adj1" fmla="val 50000"/>
              <a:gd name="adj2" fmla="val 50000"/>
            </a:avLst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8" name="CustomShape 6"/>
          <p:cNvSpPr/>
          <p:nvPr/>
        </p:nvSpPr>
        <p:spPr>
          <a:xfrm>
            <a:off x="7679160" y="3596400"/>
            <a:ext cx="202680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2e83c3"/>
                </a:solidFill>
                <a:latin typeface="Trebuchet MS"/>
              </a:rPr>
              <a:t>More transactions per second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Shape 1"/>
          <p:cNvSpPr txBox="1"/>
          <p:nvPr/>
        </p:nvSpPr>
        <p:spPr>
          <a:xfrm>
            <a:off x="547200" y="289080"/>
            <a:ext cx="8596440" cy="13204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Isolation Levels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60" name="CustomShape 2"/>
          <p:cNvSpPr/>
          <p:nvPr/>
        </p:nvSpPr>
        <p:spPr>
          <a:xfrm>
            <a:off x="7153200" y="6486480"/>
            <a:ext cx="1752120" cy="38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8b8b8b"/>
                </a:solidFill>
                <a:latin typeface="Trebuchet MS"/>
              </a:rPr>
              <a:t>@ Copyrights InterBit LTD.</a:t>
            </a:r>
            <a:endParaRPr b="0" lang="en-US" sz="900" spc="-1" strike="noStrike">
              <a:latin typeface="Arial"/>
            </a:endParaRPr>
          </a:p>
        </p:txBody>
      </p:sp>
      <p:graphicFrame>
        <p:nvGraphicFramePr>
          <p:cNvPr id="161" name="Table 3"/>
          <p:cNvGraphicFramePr/>
          <p:nvPr/>
        </p:nvGraphicFramePr>
        <p:xfrm>
          <a:off x="359640" y="2939400"/>
          <a:ext cx="8686440" cy="2765160"/>
        </p:xfrm>
        <a:graphic>
          <a:graphicData uri="http://schemas.openxmlformats.org/drawingml/2006/table">
            <a:tbl>
              <a:tblPr/>
              <a:tblGrid>
                <a:gridCol w="3200400"/>
                <a:gridCol w="1306440"/>
                <a:gridCol w="1284120"/>
                <a:gridCol w="1143000"/>
                <a:gridCol w="1752480"/>
              </a:tblGrid>
              <a:tr h="387360">
                <a:tc rowSpan="2">
                  <a:txBody>
                    <a:bodyPr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Transaction Level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3fcde7"/>
                    </a:solidFill>
                  </a:tcPr>
                </a:tc>
                <a:tc gridSpan="3">
                  <a:txBody>
                    <a:bodyPr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Permitted Phenomena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3fcde7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Performance impact  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3fcde7"/>
                    </a:solidFill>
                  </a:tcPr>
                </a:tc>
              </a:tr>
              <a:tr h="10929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000" spc="-1" strike="noStrike" baseline="-25000">
                          <a:solidFill>
                            <a:srgbClr val="ffffff"/>
                          </a:solidFill>
                          <a:latin typeface="Tahoma"/>
                        </a:rPr>
                        <a:t>Dirty reads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3fcd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000" spc="-1" strike="noStrike" baseline="-25000">
                          <a:solidFill>
                            <a:srgbClr val="ffffff"/>
                          </a:solidFill>
                          <a:latin typeface="Tahoma"/>
                        </a:rPr>
                        <a:t>Non- Repeatable reads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3fcde7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000" spc="-1" strike="noStrike" baseline="-25000">
                          <a:solidFill>
                            <a:srgbClr val="ffffff"/>
                          </a:solidFill>
                          <a:latin typeface="Tahoma"/>
                        </a:rPr>
                        <a:t>Phantom</a:t>
                      </a:r>
                      <a:endParaRPr b="0" lang="en-US" sz="2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000" spc="-1" strike="noStrike" baseline="-25000">
                          <a:solidFill>
                            <a:srgbClr val="ffffff"/>
                          </a:solidFill>
                          <a:latin typeface="Tahoma"/>
                        </a:rPr>
                        <a:t>reads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3fcde7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4467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Read uncommitted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0000"/>
                          </a:solidFill>
                          <a:latin typeface="Tahoma"/>
                        </a:rPr>
                        <a:t>YES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0000"/>
                          </a:solidFill>
                          <a:latin typeface="Tahoma"/>
                        </a:rPr>
                        <a:t>YES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0000"/>
                          </a:solidFill>
                          <a:latin typeface="Tahoma"/>
                        </a:rPr>
                        <a:t>YES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FASTEST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467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Read committed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0000ff"/>
                          </a:solidFill>
                          <a:latin typeface="Tahoma"/>
                        </a:rPr>
                        <a:t>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0000"/>
                          </a:solidFill>
                          <a:latin typeface="Tahoma"/>
                        </a:rPr>
                        <a:t>YES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0000"/>
                          </a:solidFill>
                          <a:latin typeface="Tahoma"/>
                        </a:rPr>
                        <a:t>YES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FAST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467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Repeatable read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0000ff"/>
                          </a:solidFill>
                          <a:latin typeface="Tahoma"/>
                        </a:rPr>
                        <a:t>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0000ff"/>
                          </a:solidFill>
                          <a:latin typeface="Tahoma"/>
                        </a:rPr>
                        <a:t>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0000"/>
                          </a:solidFill>
                          <a:latin typeface="Tahoma"/>
                        </a:rPr>
                        <a:t>YES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MEDIUM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4676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Serializable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0000ff"/>
                          </a:solidFill>
                          <a:latin typeface="Tahoma"/>
                        </a:rPr>
                        <a:t>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0000ff"/>
                          </a:solidFill>
                          <a:latin typeface="Tahoma"/>
                        </a:rPr>
                        <a:t>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0000ff"/>
                          </a:solidFill>
                          <a:latin typeface="Tahoma"/>
                        </a:rPr>
                        <a:t>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Tahoma"/>
                        </a:rPr>
                        <a:t>SLOW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2" name="CustomShape 4"/>
          <p:cNvSpPr/>
          <p:nvPr/>
        </p:nvSpPr>
        <p:spPr>
          <a:xfrm>
            <a:off x="8763120" y="3657600"/>
            <a:ext cx="380520" cy="2057040"/>
          </a:xfrm>
          <a:prstGeom prst="upArrow">
            <a:avLst>
              <a:gd name="adj1" fmla="val 50000"/>
              <a:gd name="adj2" fmla="val 135000"/>
            </a:avLst>
          </a:prstGeom>
          <a:gradFill rotWithShape="0">
            <a:gsLst>
              <a:gs pos="0">
                <a:srgbClr val="ff0000"/>
              </a:gs>
              <a:gs pos="100000">
                <a:srgbClr val="99ccff"/>
              </a:gs>
            </a:gsLst>
            <a:lin ang="5400000"/>
          </a:gradFill>
          <a:ln w="9360">
            <a:solidFill>
              <a:schemeClr val="tx1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CustomShape 5"/>
          <p:cNvSpPr/>
          <p:nvPr/>
        </p:nvSpPr>
        <p:spPr>
          <a:xfrm>
            <a:off x="547200" y="1585080"/>
            <a:ext cx="745416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marL="343080" indent="-342720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Trebuchet MS"/>
              </a:rPr>
              <a:t>The following table describes isolation levels and the problems prevented by each: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Shape 1"/>
          <p:cNvSpPr txBox="1"/>
          <p:nvPr/>
        </p:nvSpPr>
        <p:spPr>
          <a:xfrm>
            <a:off x="677160" y="266760"/>
            <a:ext cx="8596440" cy="9997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RDBMS - examples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65" name="TextShape 2"/>
          <p:cNvSpPr txBox="1"/>
          <p:nvPr/>
        </p:nvSpPr>
        <p:spPr>
          <a:xfrm>
            <a:off x="677160" y="1266840"/>
            <a:ext cx="8596440" cy="55051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MySQL - Opensource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Postgresql - Opensource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Oracle database (Oracle)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SQL Server (Microsoft)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Aurora (AWS – built for the cloud)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Cloud SQL (Google)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Very big enterprise type of DB (you might need a mainframe to run them):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Sybase 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DB2 (IBM)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Shape 1"/>
          <p:cNvSpPr txBox="1"/>
          <p:nvPr/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100000"/>
              </a:lnSpc>
            </a:pPr>
            <a:r>
              <a:rPr b="0" lang="en-US" sz="6600" spc="-1" strike="noStrike">
                <a:solidFill>
                  <a:srgbClr val="ff0000"/>
                </a:solidFill>
                <a:latin typeface="Trebuchet MS"/>
              </a:rPr>
              <a:t>The Dream… </a:t>
            </a:r>
            <a:r>
              <a:rPr b="0" lang="en-US" sz="6600" spc="-1" strike="noStrike">
                <a:solidFill>
                  <a:srgbClr val="ff0000"/>
                </a:solidFill>
                <a:latin typeface="Wingdings"/>
              </a:rPr>
              <a:t></a:t>
            </a:r>
            <a:endParaRPr b="0" lang="en-US" sz="6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67" name="TextShape 2"/>
          <p:cNvSpPr txBox="1"/>
          <p:nvPr/>
        </p:nvSpPr>
        <p:spPr>
          <a:xfrm>
            <a:off x="677160" y="2197080"/>
            <a:ext cx="8596440" cy="45266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404040"/>
                </a:solidFill>
                <a:latin typeface="Trebuchet MS"/>
              </a:rPr>
              <a:t>Oracle – but million times stronger 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404040"/>
                </a:solidFill>
                <a:latin typeface="Trebuchet MS"/>
              </a:rPr>
              <a:t>DB with Billion of user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404040"/>
                </a:solidFill>
                <a:latin typeface="Trebuchet MS"/>
              </a:rPr>
              <a:t>With satisfied performance &amp; efficiently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404040"/>
                </a:solidFill>
                <a:latin typeface="Trebuchet MS"/>
              </a:rPr>
              <a:t>With ACID support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404040"/>
                </a:solidFill>
                <a:latin typeface="Trebuchet MS"/>
              </a:rPr>
              <a:t>With my lovely JOINs of SQL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404040"/>
                </a:solidFill>
                <a:latin typeface="Trebuchet MS"/>
              </a:rPr>
              <a:t>With simple SQL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</p:txBody>
      </p:sp>
      <p:pic>
        <p:nvPicPr>
          <p:cNvPr id="168" name="Picture 4" descr=""/>
          <p:cNvPicPr/>
          <p:nvPr/>
        </p:nvPicPr>
        <p:blipFill>
          <a:blip r:embed="rId1"/>
          <a:stretch/>
        </p:blipFill>
        <p:spPr>
          <a:xfrm>
            <a:off x="5371920" y="2897640"/>
            <a:ext cx="493200" cy="408600"/>
          </a:xfrm>
          <a:prstGeom prst="rect">
            <a:avLst/>
          </a:prstGeom>
          <a:ln>
            <a:noFill/>
          </a:ln>
        </p:spPr>
      </p:pic>
      <p:pic>
        <p:nvPicPr>
          <p:cNvPr id="169" name="Picture 5" descr=""/>
          <p:cNvPicPr/>
          <p:nvPr/>
        </p:nvPicPr>
        <p:blipFill>
          <a:blip r:embed="rId2"/>
          <a:stretch/>
        </p:blipFill>
        <p:spPr>
          <a:xfrm>
            <a:off x="8680680" y="3538800"/>
            <a:ext cx="493200" cy="408600"/>
          </a:xfrm>
          <a:prstGeom prst="rect">
            <a:avLst/>
          </a:prstGeom>
          <a:ln>
            <a:noFill/>
          </a:ln>
        </p:spPr>
      </p:pic>
      <p:pic>
        <p:nvPicPr>
          <p:cNvPr id="170" name="Picture 6" descr=""/>
          <p:cNvPicPr/>
          <p:nvPr/>
        </p:nvPicPr>
        <p:blipFill>
          <a:blip r:embed="rId3"/>
          <a:stretch/>
        </p:blipFill>
        <p:spPr>
          <a:xfrm>
            <a:off x="4728960" y="4164840"/>
            <a:ext cx="493200" cy="408600"/>
          </a:xfrm>
          <a:prstGeom prst="rect">
            <a:avLst/>
          </a:prstGeom>
          <a:ln>
            <a:noFill/>
          </a:ln>
        </p:spPr>
      </p:pic>
      <p:pic>
        <p:nvPicPr>
          <p:cNvPr id="171" name="Picture 7" descr=""/>
          <p:cNvPicPr/>
          <p:nvPr/>
        </p:nvPicPr>
        <p:blipFill>
          <a:blip r:embed="rId4"/>
          <a:stretch/>
        </p:blipFill>
        <p:spPr>
          <a:xfrm>
            <a:off x="6463440" y="4753800"/>
            <a:ext cx="493200" cy="408600"/>
          </a:xfrm>
          <a:prstGeom prst="rect">
            <a:avLst/>
          </a:prstGeom>
          <a:ln>
            <a:noFill/>
          </a:ln>
        </p:spPr>
      </p:pic>
      <p:pic>
        <p:nvPicPr>
          <p:cNvPr id="172" name="Picture 8" descr=""/>
          <p:cNvPicPr/>
          <p:nvPr/>
        </p:nvPicPr>
        <p:blipFill>
          <a:blip r:embed="rId5"/>
          <a:stretch/>
        </p:blipFill>
        <p:spPr>
          <a:xfrm>
            <a:off x="4235400" y="5402880"/>
            <a:ext cx="493200" cy="408600"/>
          </a:xfrm>
          <a:prstGeom prst="rect">
            <a:avLst/>
          </a:prstGeom>
          <a:ln>
            <a:noFill/>
          </a:ln>
        </p:spPr>
      </p:pic>
      <p:pic>
        <p:nvPicPr>
          <p:cNvPr id="173" name="Picture 9" descr=""/>
          <p:cNvPicPr/>
          <p:nvPr/>
        </p:nvPicPr>
        <p:blipFill>
          <a:blip r:embed="rId6"/>
          <a:stretch/>
        </p:blipFill>
        <p:spPr>
          <a:xfrm>
            <a:off x="7803720" y="2298600"/>
            <a:ext cx="493200" cy="4086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Shape 1"/>
          <p:cNvSpPr txBox="1"/>
          <p:nvPr/>
        </p:nvSpPr>
        <p:spPr>
          <a:xfrm>
            <a:off x="1915560" y="1647720"/>
            <a:ext cx="6799320" cy="356184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7200" spc="-1" strike="noStrike">
                <a:solidFill>
                  <a:srgbClr val="ff0000"/>
                </a:solidFill>
                <a:latin typeface="Trebuchet MS"/>
              </a:rPr>
              <a:t>     …</a:t>
            </a:r>
            <a:r>
              <a:rPr b="0" lang="en-US" sz="7200" spc="-1" strike="noStrike">
                <a:solidFill>
                  <a:srgbClr val="ff0000"/>
                </a:solidFill>
                <a:latin typeface="Trebuchet MS"/>
              </a:rPr>
              <a:t>and its interpretation </a:t>
            </a:r>
            <a:br/>
            <a:r>
              <a:rPr b="0" lang="en-US" sz="7200" spc="-1" strike="noStrike">
                <a:solidFill>
                  <a:srgbClr val="ff0000"/>
                </a:solidFill>
                <a:latin typeface="Trebuchet MS"/>
              </a:rPr>
              <a:t>          </a:t>
            </a:r>
            <a:r>
              <a:rPr b="0" lang="en-US" sz="9600" spc="-1" strike="noStrike">
                <a:solidFill>
                  <a:srgbClr val="ff0000"/>
                </a:solidFill>
                <a:latin typeface="Wingdings"/>
              </a:rPr>
              <a:t></a:t>
            </a:r>
            <a:endParaRPr b="0" lang="en-US" sz="9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475200" y="-237960"/>
            <a:ext cx="10592640" cy="7619760"/>
          </a:xfrm>
          <a:prstGeom prst="irregularSeal1">
            <a:avLst/>
          </a:prstGeom>
          <a:solidFill>
            <a:schemeClr val="accent1">
              <a:alpha val="30000"/>
            </a:scheme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525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 rot="20767200">
            <a:off x="1245960" y="1585440"/>
            <a:ext cx="7813080" cy="2833560"/>
          </a:xfrm>
          <a:prstGeom prst="rect">
            <a:avLst/>
          </a:prstGeom>
          <a:solidFill>
            <a:schemeClr val="accent1">
              <a:alpha val="22000"/>
            </a:schemeClr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i="1" lang="en-US" sz="6000" spc="-1" strike="noStrike">
                <a:solidFill>
                  <a:srgbClr val="ff00ff"/>
                </a:solidFill>
                <a:latin typeface="Trebuchet MS"/>
              </a:rPr>
              <a:t>The future is going to decentralize computers</a:t>
            </a:r>
            <a:endParaRPr b="0" lang="en-US" sz="6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Shape 1"/>
          <p:cNvSpPr txBox="1"/>
          <p:nvPr/>
        </p:nvSpPr>
        <p:spPr>
          <a:xfrm>
            <a:off x="677160" y="156240"/>
            <a:ext cx="8596440" cy="132048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66000"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ff0000"/>
                </a:solidFill>
                <a:latin typeface="Trebuchet MS"/>
              </a:rPr>
              <a:t>The CAP (</a:t>
            </a:r>
            <a:r>
              <a:rPr b="1" lang="en-US" sz="3600" spc="-1" strike="noStrike">
                <a:solidFill>
                  <a:srgbClr val="ff0000"/>
                </a:solidFill>
                <a:latin typeface="Trebuchet MS"/>
              </a:rPr>
              <a:t>C</a:t>
            </a:r>
            <a:r>
              <a:rPr b="0" lang="en-US" sz="3600" spc="-1" strike="noStrike">
                <a:solidFill>
                  <a:srgbClr val="ff0000"/>
                </a:solidFill>
                <a:latin typeface="Trebuchet MS"/>
              </a:rPr>
              <a:t>onsistency, </a:t>
            </a:r>
            <a:r>
              <a:rPr b="1" lang="en-US" sz="3600" spc="-1" strike="noStrike">
                <a:solidFill>
                  <a:srgbClr val="ff0000"/>
                </a:solidFill>
                <a:latin typeface="Trebuchet MS"/>
              </a:rPr>
              <a:t>A</a:t>
            </a:r>
            <a:r>
              <a:rPr b="0" lang="en-US" sz="3600" spc="-1" strike="noStrike">
                <a:solidFill>
                  <a:srgbClr val="ff0000"/>
                </a:solidFill>
                <a:latin typeface="Trebuchet MS"/>
              </a:rPr>
              <a:t>vailability &amp; </a:t>
            </a:r>
            <a:r>
              <a:rPr b="1" lang="en-US" sz="3600" spc="-1" strike="noStrike">
                <a:solidFill>
                  <a:srgbClr val="ff0000"/>
                </a:solidFill>
                <a:latin typeface="Trebuchet MS"/>
              </a:rPr>
              <a:t>P</a:t>
            </a:r>
            <a:r>
              <a:rPr b="0" lang="en-US" sz="3600" spc="-1" strike="noStrike">
                <a:solidFill>
                  <a:srgbClr val="ff0000"/>
                </a:solidFill>
                <a:latin typeface="Trebuchet MS"/>
              </a:rPr>
              <a:t>artition tolerance) Theorem</a:t>
            </a:r>
            <a:br/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78" name="TextShape 2"/>
          <p:cNvSpPr txBox="1"/>
          <p:nvPr/>
        </p:nvSpPr>
        <p:spPr>
          <a:xfrm>
            <a:off x="744120" y="1327320"/>
            <a:ext cx="8596440" cy="51588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It states that it is impossible for a distributed data store to simultaneously provide more than two out of the following three guarantees: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2400" spc="-1" strike="noStrike">
                <a:solidFill>
                  <a:srgbClr val="ff0000"/>
                </a:solidFill>
                <a:latin typeface="Trebuchet MS"/>
              </a:rPr>
              <a:t>a</a:t>
            </a: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. </a:t>
            </a:r>
            <a:r>
              <a:rPr b="0" lang="en-US" sz="2400" spc="-1" strike="noStrike">
                <a:solidFill>
                  <a:srgbClr val="ff0000"/>
                </a:solidFill>
                <a:latin typeface="Trebuchet MS"/>
              </a:rPr>
              <a:t>Consistency</a:t>
            </a: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: Every read receives the most recent write or  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    </a:t>
            </a: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an error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2400" spc="-1" strike="noStrike">
                <a:solidFill>
                  <a:srgbClr val="ff0000"/>
                </a:solidFill>
                <a:latin typeface="Trebuchet MS"/>
              </a:rPr>
              <a:t>b</a:t>
            </a: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. </a:t>
            </a:r>
            <a:r>
              <a:rPr b="0" lang="en-US" sz="2400" spc="-1" strike="noStrike">
                <a:solidFill>
                  <a:srgbClr val="ff0000"/>
                </a:solidFill>
                <a:latin typeface="Trebuchet MS"/>
              </a:rPr>
              <a:t>Availability</a:t>
            </a: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: Every request receives a (non-error) response, without the guarantee that it contains the most recent write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2400" spc="-1" strike="noStrike">
                <a:solidFill>
                  <a:srgbClr val="ff0000"/>
                </a:solidFill>
                <a:latin typeface="Trebuchet MS"/>
              </a:rPr>
              <a:t>c. Partition fault tolerance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</a:rPr>
              <a:t>: </a:t>
            </a: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The system continues to operate despite an arbitrary number of messages being dropped (or delayed) by the network between nodes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Shape 1"/>
          <p:cNvSpPr txBox="1"/>
          <p:nvPr/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5fcbef"/>
                </a:solidFill>
                <a:latin typeface="Trebuchet MS"/>
              </a:rPr>
              <a:t>NoSQL DB – towards the end of RDBMS?</a:t>
            </a:r>
            <a:endParaRPr b="0" lang="en-US" sz="40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80" name="TextShape 2"/>
          <p:cNvSpPr txBox="1"/>
          <p:nvPr/>
        </p:nvSpPr>
        <p:spPr>
          <a:xfrm>
            <a:off x="572400" y="2152800"/>
            <a:ext cx="8596440" cy="428832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7000"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3200" spc="-1" strike="noStrike">
                <a:solidFill>
                  <a:srgbClr val="404040"/>
                </a:solidFill>
                <a:latin typeface="Trebuchet MS"/>
              </a:rPr>
              <a:t>Scaling definitions:</a:t>
            </a:r>
            <a:endParaRPr b="0" lang="en-US" sz="32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404040"/>
                </a:solidFill>
                <a:latin typeface="Trebuchet MS"/>
              </a:rPr>
              <a:t>Up – replace to a better machine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404040"/>
                </a:solidFill>
                <a:latin typeface="Trebuchet MS"/>
              </a:rPr>
              <a:t>Down – replace to a slower machine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404040"/>
                </a:solidFill>
                <a:latin typeface="Trebuchet MS"/>
              </a:rPr>
              <a:t>In – reduce amount of machines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404040"/>
                </a:solidFill>
                <a:latin typeface="Trebuchet MS"/>
              </a:rPr>
              <a:t>Out – increase amount of machines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0" lang="en-US" sz="2400" spc="-1" strike="noStrike">
                <a:solidFill>
                  <a:srgbClr val="404040"/>
                </a:solidFill>
                <a:latin typeface="Trebuchet MS"/>
              </a:rPr>
              <a:t>   </a:t>
            </a:r>
            <a:endParaRPr b="0" lang="en-US" sz="24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b="1" lang="en-US" sz="2400" spc="-1" strike="noStrike">
                <a:solidFill>
                  <a:srgbClr val="ff0000"/>
                </a:solidFill>
                <a:latin typeface="Trebuchet MS"/>
              </a:rPr>
              <a:t>     </a:t>
            </a:r>
            <a:r>
              <a:rPr b="1" lang="en-US" sz="2800" spc="-1" strike="noStrike">
                <a:solidFill>
                  <a:srgbClr val="ff0000"/>
                </a:solidFill>
                <a:latin typeface="Trebuchet MS"/>
              </a:rPr>
              <a:t>NoSQL meant to be a DB with scale-out abilities  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181" name="CustomShape 3"/>
          <p:cNvSpPr/>
          <p:nvPr/>
        </p:nvSpPr>
        <p:spPr>
          <a:xfrm>
            <a:off x="1044360" y="5270400"/>
            <a:ext cx="8229240" cy="1083960"/>
          </a:xfrm>
          <a:prstGeom prst="rect">
            <a:avLst/>
          </a:prstGeom>
          <a:solidFill>
            <a:schemeClr val="accent1">
              <a:alpha val="21000"/>
            </a:scheme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Shape 1"/>
          <p:cNvSpPr txBox="1"/>
          <p:nvPr/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5fcbef"/>
                </a:solidFill>
                <a:latin typeface="Trebuchet MS"/>
              </a:rPr>
              <a:t>NoSQL Types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83" name="TextShape 2"/>
          <p:cNvSpPr txBox="1"/>
          <p:nvPr/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404040"/>
                </a:solidFill>
                <a:latin typeface="Trebuchet MS"/>
              </a:rPr>
              <a:t>NoSQL DBs are classified into four types: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ff0000"/>
                </a:solidFill>
                <a:latin typeface="Trebuchet MS"/>
              </a:rPr>
              <a:t>Key-Value pair bases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ff0000"/>
                </a:solidFill>
                <a:latin typeface="Trebuchet MS"/>
              </a:rPr>
              <a:t>Column based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ff0000"/>
                </a:solidFill>
                <a:latin typeface="Trebuchet MS"/>
              </a:rPr>
              <a:t>Document based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ff0000"/>
                </a:solidFill>
                <a:latin typeface="Trebuchet MS"/>
              </a:rPr>
              <a:t>Graph based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3" descr=""/>
          <p:cNvPicPr/>
          <p:nvPr/>
        </p:nvPicPr>
        <p:blipFill>
          <a:blip r:embed="rId1"/>
          <a:stretch/>
        </p:blipFill>
        <p:spPr>
          <a:xfrm>
            <a:off x="576360" y="0"/>
            <a:ext cx="11039040" cy="6857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3886200" y="647640"/>
            <a:ext cx="2381040" cy="456840"/>
          </a:xfrm>
          <a:prstGeom prst="rect">
            <a:avLst/>
          </a:prstGeom>
          <a:solidFill>
            <a:schemeClr val="accent1">
              <a:alpha val="29000"/>
            </a:scheme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6" name="CustomShape 2"/>
          <p:cNvSpPr/>
          <p:nvPr/>
        </p:nvSpPr>
        <p:spPr>
          <a:xfrm>
            <a:off x="4210200" y="647640"/>
            <a:ext cx="16761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rebuchet MS"/>
              </a:rPr>
              <a:t>      </a:t>
            </a:r>
            <a:r>
              <a:rPr b="0" lang="en-US" sz="1800" spc="-1" strike="noStrike">
                <a:solidFill>
                  <a:srgbClr val="000000"/>
                </a:solidFill>
                <a:latin typeface="Trebuchet MS"/>
              </a:rPr>
              <a:t>Master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7" name="CustomShape 3"/>
          <p:cNvSpPr/>
          <p:nvPr/>
        </p:nvSpPr>
        <p:spPr>
          <a:xfrm>
            <a:off x="1114560" y="16095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8" name="CustomShape 4"/>
          <p:cNvSpPr/>
          <p:nvPr/>
        </p:nvSpPr>
        <p:spPr>
          <a:xfrm>
            <a:off x="1114560" y="20430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9" name="CustomShape 5"/>
          <p:cNvSpPr/>
          <p:nvPr/>
        </p:nvSpPr>
        <p:spPr>
          <a:xfrm>
            <a:off x="1114560" y="24764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0" name="CustomShape 6"/>
          <p:cNvSpPr/>
          <p:nvPr/>
        </p:nvSpPr>
        <p:spPr>
          <a:xfrm>
            <a:off x="1114560" y="29098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1" name="CustomShape 7"/>
          <p:cNvSpPr/>
          <p:nvPr/>
        </p:nvSpPr>
        <p:spPr>
          <a:xfrm>
            <a:off x="1114560" y="33433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2" name="CustomShape 8"/>
          <p:cNvSpPr/>
          <p:nvPr/>
        </p:nvSpPr>
        <p:spPr>
          <a:xfrm>
            <a:off x="1114560" y="37767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3" name="CustomShape 9"/>
          <p:cNvSpPr/>
          <p:nvPr/>
        </p:nvSpPr>
        <p:spPr>
          <a:xfrm>
            <a:off x="1114560" y="42624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4" name="CustomShape 10"/>
          <p:cNvSpPr/>
          <p:nvPr/>
        </p:nvSpPr>
        <p:spPr>
          <a:xfrm>
            <a:off x="1114560" y="47480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5" name="CustomShape 11"/>
          <p:cNvSpPr/>
          <p:nvPr/>
        </p:nvSpPr>
        <p:spPr>
          <a:xfrm>
            <a:off x="1114560" y="52340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6" name="CustomShape 12"/>
          <p:cNvSpPr/>
          <p:nvPr/>
        </p:nvSpPr>
        <p:spPr>
          <a:xfrm>
            <a:off x="1114560" y="57196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7" name="CustomShape 13"/>
          <p:cNvSpPr/>
          <p:nvPr/>
        </p:nvSpPr>
        <p:spPr>
          <a:xfrm>
            <a:off x="1638360" y="16192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8" name="CustomShape 14"/>
          <p:cNvSpPr/>
          <p:nvPr/>
        </p:nvSpPr>
        <p:spPr>
          <a:xfrm>
            <a:off x="1638360" y="20527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9" name="CustomShape 15"/>
          <p:cNvSpPr/>
          <p:nvPr/>
        </p:nvSpPr>
        <p:spPr>
          <a:xfrm>
            <a:off x="1638360" y="24861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" name="CustomShape 16"/>
          <p:cNvSpPr/>
          <p:nvPr/>
        </p:nvSpPr>
        <p:spPr>
          <a:xfrm>
            <a:off x="1638360" y="29192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1" name="CustomShape 17"/>
          <p:cNvSpPr/>
          <p:nvPr/>
        </p:nvSpPr>
        <p:spPr>
          <a:xfrm>
            <a:off x="1638360" y="33526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2" name="CustomShape 18"/>
          <p:cNvSpPr/>
          <p:nvPr/>
        </p:nvSpPr>
        <p:spPr>
          <a:xfrm>
            <a:off x="1638360" y="37861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" name="CustomShape 19"/>
          <p:cNvSpPr/>
          <p:nvPr/>
        </p:nvSpPr>
        <p:spPr>
          <a:xfrm>
            <a:off x="1638360" y="42721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4" name="CustomShape 20"/>
          <p:cNvSpPr/>
          <p:nvPr/>
        </p:nvSpPr>
        <p:spPr>
          <a:xfrm>
            <a:off x="1638360" y="47577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5" name="CustomShape 21"/>
          <p:cNvSpPr/>
          <p:nvPr/>
        </p:nvSpPr>
        <p:spPr>
          <a:xfrm>
            <a:off x="1638360" y="52434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6" name="CustomShape 22"/>
          <p:cNvSpPr/>
          <p:nvPr/>
        </p:nvSpPr>
        <p:spPr>
          <a:xfrm>
            <a:off x="1638360" y="57294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7" name="CustomShape 23"/>
          <p:cNvSpPr/>
          <p:nvPr/>
        </p:nvSpPr>
        <p:spPr>
          <a:xfrm>
            <a:off x="2162160" y="16286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" name="CustomShape 24"/>
          <p:cNvSpPr/>
          <p:nvPr/>
        </p:nvSpPr>
        <p:spPr>
          <a:xfrm>
            <a:off x="2162160" y="20620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9" name="CustomShape 25"/>
          <p:cNvSpPr/>
          <p:nvPr/>
        </p:nvSpPr>
        <p:spPr>
          <a:xfrm>
            <a:off x="2162160" y="24955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0" name="CustomShape 26"/>
          <p:cNvSpPr/>
          <p:nvPr/>
        </p:nvSpPr>
        <p:spPr>
          <a:xfrm>
            <a:off x="2162160" y="29289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1" name="CustomShape 27"/>
          <p:cNvSpPr/>
          <p:nvPr/>
        </p:nvSpPr>
        <p:spPr>
          <a:xfrm>
            <a:off x="2162160" y="33624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" name="CustomShape 28"/>
          <p:cNvSpPr/>
          <p:nvPr/>
        </p:nvSpPr>
        <p:spPr>
          <a:xfrm>
            <a:off x="2162160" y="37958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" name="CustomShape 29"/>
          <p:cNvSpPr/>
          <p:nvPr/>
        </p:nvSpPr>
        <p:spPr>
          <a:xfrm>
            <a:off x="2162160" y="42814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4" name="CustomShape 30"/>
          <p:cNvSpPr/>
          <p:nvPr/>
        </p:nvSpPr>
        <p:spPr>
          <a:xfrm>
            <a:off x="2162160" y="47671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5" name="CustomShape 31"/>
          <p:cNvSpPr/>
          <p:nvPr/>
        </p:nvSpPr>
        <p:spPr>
          <a:xfrm>
            <a:off x="2162160" y="52531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6" name="CustomShape 32"/>
          <p:cNvSpPr/>
          <p:nvPr/>
        </p:nvSpPr>
        <p:spPr>
          <a:xfrm>
            <a:off x="2162160" y="57387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7" name="CustomShape 33"/>
          <p:cNvSpPr/>
          <p:nvPr/>
        </p:nvSpPr>
        <p:spPr>
          <a:xfrm>
            <a:off x="2638440" y="16286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8" name="CustomShape 34"/>
          <p:cNvSpPr/>
          <p:nvPr/>
        </p:nvSpPr>
        <p:spPr>
          <a:xfrm>
            <a:off x="2638440" y="20620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9" name="CustomShape 35"/>
          <p:cNvSpPr/>
          <p:nvPr/>
        </p:nvSpPr>
        <p:spPr>
          <a:xfrm>
            <a:off x="2638440" y="24955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0" name="CustomShape 36"/>
          <p:cNvSpPr/>
          <p:nvPr/>
        </p:nvSpPr>
        <p:spPr>
          <a:xfrm>
            <a:off x="2638440" y="29289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1" name="CustomShape 37"/>
          <p:cNvSpPr/>
          <p:nvPr/>
        </p:nvSpPr>
        <p:spPr>
          <a:xfrm>
            <a:off x="2638440" y="33624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2" name="CustomShape 38"/>
          <p:cNvSpPr/>
          <p:nvPr/>
        </p:nvSpPr>
        <p:spPr>
          <a:xfrm>
            <a:off x="2638440" y="37958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3" name="CustomShape 39"/>
          <p:cNvSpPr/>
          <p:nvPr/>
        </p:nvSpPr>
        <p:spPr>
          <a:xfrm>
            <a:off x="2638440" y="42814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4" name="CustomShape 40"/>
          <p:cNvSpPr/>
          <p:nvPr/>
        </p:nvSpPr>
        <p:spPr>
          <a:xfrm>
            <a:off x="2638440" y="47671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5" name="CustomShape 41"/>
          <p:cNvSpPr/>
          <p:nvPr/>
        </p:nvSpPr>
        <p:spPr>
          <a:xfrm>
            <a:off x="2638440" y="52531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6" name="CustomShape 42"/>
          <p:cNvSpPr/>
          <p:nvPr/>
        </p:nvSpPr>
        <p:spPr>
          <a:xfrm>
            <a:off x="2638440" y="57387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7" name="CustomShape 43"/>
          <p:cNvSpPr/>
          <p:nvPr/>
        </p:nvSpPr>
        <p:spPr>
          <a:xfrm>
            <a:off x="3162240" y="16383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8" name="CustomShape 44"/>
          <p:cNvSpPr/>
          <p:nvPr/>
        </p:nvSpPr>
        <p:spPr>
          <a:xfrm>
            <a:off x="3162240" y="20718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9" name="CustomShape 45"/>
          <p:cNvSpPr/>
          <p:nvPr/>
        </p:nvSpPr>
        <p:spPr>
          <a:xfrm>
            <a:off x="3162240" y="25052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0" name="CustomShape 46"/>
          <p:cNvSpPr/>
          <p:nvPr/>
        </p:nvSpPr>
        <p:spPr>
          <a:xfrm>
            <a:off x="3162240" y="29383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1" name="CustomShape 47"/>
          <p:cNvSpPr/>
          <p:nvPr/>
        </p:nvSpPr>
        <p:spPr>
          <a:xfrm>
            <a:off x="3162240" y="33717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2" name="CustomShape 48"/>
          <p:cNvSpPr/>
          <p:nvPr/>
        </p:nvSpPr>
        <p:spPr>
          <a:xfrm>
            <a:off x="3162240" y="38052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3" name="CustomShape 49"/>
          <p:cNvSpPr/>
          <p:nvPr/>
        </p:nvSpPr>
        <p:spPr>
          <a:xfrm>
            <a:off x="3162240" y="42908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4" name="CustomShape 50"/>
          <p:cNvSpPr/>
          <p:nvPr/>
        </p:nvSpPr>
        <p:spPr>
          <a:xfrm>
            <a:off x="3162240" y="47768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5" name="CustomShape 51"/>
          <p:cNvSpPr/>
          <p:nvPr/>
        </p:nvSpPr>
        <p:spPr>
          <a:xfrm>
            <a:off x="3162240" y="52624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6" name="CustomShape 52"/>
          <p:cNvSpPr/>
          <p:nvPr/>
        </p:nvSpPr>
        <p:spPr>
          <a:xfrm>
            <a:off x="3162240" y="57484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7" name="CustomShape 53"/>
          <p:cNvSpPr/>
          <p:nvPr/>
        </p:nvSpPr>
        <p:spPr>
          <a:xfrm>
            <a:off x="3686040" y="16477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8" name="CustomShape 54"/>
          <p:cNvSpPr/>
          <p:nvPr/>
        </p:nvSpPr>
        <p:spPr>
          <a:xfrm>
            <a:off x="3686040" y="20811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9" name="CustomShape 55"/>
          <p:cNvSpPr/>
          <p:nvPr/>
        </p:nvSpPr>
        <p:spPr>
          <a:xfrm>
            <a:off x="3686040" y="25146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0" name="CustomShape 56"/>
          <p:cNvSpPr/>
          <p:nvPr/>
        </p:nvSpPr>
        <p:spPr>
          <a:xfrm>
            <a:off x="3686040" y="29480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1" name="CustomShape 57"/>
          <p:cNvSpPr/>
          <p:nvPr/>
        </p:nvSpPr>
        <p:spPr>
          <a:xfrm>
            <a:off x="3686040" y="33814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2" name="CustomShape 58"/>
          <p:cNvSpPr/>
          <p:nvPr/>
        </p:nvSpPr>
        <p:spPr>
          <a:xfrm>
            <a:off x="3686040" y="38149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3" name="CustomShape 59"/>
          <p:cNvSpPr/>
          <p:nvPr/>
        </p:nvSpPr>
        <p:spPr>
          <a:xfrm>
            <a:off x="3686040" y="43005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4" name="CustomShape 60"/>
          <p:cNvSpPr/>
          <p:nvPr/>
        </p:nvSpPr>
        <p:spPr>
          <a:xfrm>
            <a:off x="3686040" y="47862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5" name="CustomShape 61"/>
          <p:cNvSpPr/>
          <p:nvPr/>
        </p:nvSpPr>
        <p:spPr>
          <a:xfrm>
            <a:off x="3686040" y="52722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6" name="CustomShape 62"/>
          <p:cNvSpPr/>
          <p:nvPr/>
        </p:nvSpPr>
        <p:spPr>
          <a:xfrm>
            <a:off x="3686040" y="57578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7" name="CustomShape 63"/>
          <p:cNvSpPr/>
          <p:nvPr/>
        </p:nvSpPr>
        <p:spPr>
          <a:xfrm>
            <a:off x="4162320" y="16477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8" name="CustomShape 64"/>
          <p:cNvSpPr/>
          <p:nvPr/>
        </p:nvSpPr>
        <p:spPr>
          <a:xfrm>
            <a:off x="4162320" y="20811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9" name="CustomShape 65"/>
          <p:cNvSpPr/>
          <p:nvPr/>
        </p:nvSpPr>
        <p:spPr>
          <a:xfrm>
            <a:off x="4162320" y="25146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0" name="CustomShape 66"/>
          <p:cNvSpPr/>
          <p:nvPr/>
        </p:nvSpPr>
        <p:spPr>
          <a:xfrm>
            <a:off x="4162320" y="29480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1" name="CustomShape 67"/>
          <p:cNvSpPr/>
          <p:nvPr/>
        </p:nvSpPr>
        <p:spPr>
          <a:xfrm>
            <a:off x="4162320" y="33814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2" name="CustomShape 68"/>
          <p:cNvSpPr/>
          <p:nvPr/>
        </p:nvSpPr>
        <p:spPr>
          <a:xfrm>
            <a:off x="4162320" y="38149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3" name="CustomShape 69"/>
          <p:cNvSpPr/>
          <p:nvPr/>
        </p:nvSpPr>
        <p:spPr>
          <a:xfrm>
            <a:off x="4162320" y="43005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4" name="CustomShape 70"/>
          <p:cNvSpPr/>
          <p:nvPr/>
        </p:nvSpPr>
        <p:spPr>
          <a:xfrm>
            <a:off x="4162320" y="47862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5" name="CustomShape 71"/>
          <p:cNvSpPr/>
          <p:nvPr/>
        </p:nvSpPr>
        <p:spPr>
          <a:xfrm>
            <a:off x="4162320" y="52722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6" name="CustomShape 72"/>
          <p:cNvSpPr/>
          <p:nvPr/>
        </p:nvSpPr>
        <p:spPr>
          <a:xfrm>
            <a:off x="4162320" y="57578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7" name="CustomShape 73"/>
          <p:cNvSpPr/>
          <p:nvPr/>
        </p:nvSpPr>
        <p:spPr>
          <a:xfrm>
            <a:off x="4686480" y="16574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8" name="CustomShape 74"/>
          <p:cNvSpPr/>
          <p:nvPr/>
        </p:nvSpPr>
        <p:spPr>
          <a:xfrm>
            <a:off x="4686120" y="20908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9" name="CustomShape 75"/>
          <p:cNvSpPr/>
          <p:nvPr/>
        </p:nvSpPr>
        <p:spPr>
          <a:xfrm>
            <a:off x="4686120" y="25239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0" name="CustomShape 76"/>
          <p:cNvSpPr/>
          <p:nvPr/>
        </p:nvSpPr>
        <p:spPr>
          <a:xfrm>
            <a:off x="4686120" y="29574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1" name="CustomShape 77"/>
          <p:cNvSpPr/>
          <p:nvPr/>
        </p:nvSpPr>
        <p:spPr>
          <a:xfrm>
            <a:off x="4686120" y="33908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2" name="CustomShape 78"/>
          <p:cNvSpPr/>
          <p:nvPr/>
        </p:nvSpPr>
        <p:spPr>
          <a:xfrm>
            <a:off x="4686120" y="38242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3" name="CustomShape 79"/>
          <p:cNvSpPr/>
          <p:nvPr/>
        </p:nvSpPr>
        <p:spPr>
          <a:xfrm>
            <a:off x="4686120" y="43099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4" name="CustomShape 80"/>
          <p:cNvSpPr/>
          <p:nvPr/>
        </p:nvSpPr>
        <p:spPr>
          <a:xfrm>
            <a:off x="4686120" y="47959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5" name="CustomShape 81"/>
          <p:cNvSpPr/>
          <p:nvPr/>
        </p:nvSpPr>
        <p:spPr>
          <a:xfrm>
            <a:off x="4686120" y="52815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6" name="CustomShape 82"/>
          <p:cNvSpPr/>
          <p:nvPr/>
        </p:nvSpPr>
        <p:spPr>
          <a:xfrm>
            <a:off x="4686120" y="57675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7" name="CustomShape 83"/>
          <p:cNvSpPr/>
          <p:nvPr/>
        </p:nvSpPr>
        <p:spPr>
          <a:xfrm>
            <a:off x="5210280" y="16668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8" name="CustomShape 84"/>
          <p:cNvSpPr/>
          <p:nvPr/>
        </p:nvSpPr>
        <p:spPr>
          <a:xfrm>
            <a:off x="5210280" y="21002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9" name="CustomShape 85"/>
          <p:cNvSpPr/>
          <p:nvPr/>
        </p:nvSpPr>
        <p:spPr>
          <a:xfrm>
            <a:off x="5210280" y="25336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0" name="CustomShape 86"/>
          <p:cNvSpPr/>
          <p:nvPr/>
        </p:nvSpPr>
        <p:spPr>
          <a:xfrm>
            <a:off x="5210280" y="29671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1" name="CustomShape 87"/>
          <p:cNvSpPr/>
          <p:nvPr/>
        </p:nvSpPr>
        <p:spPr>
          <a:xfrm>
            <a:off x="5210280" y="34005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2" name="CustomShape 88"/>
          <p:cNvSpPr/>
          <p:nvPr/>
        </p:nvSpPr>
        <p:spPr>
          <a:xfrm>
            <a:off x="5210280" y="38336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3" name="CustomShape 89"/>
          <p:cNvSpPr/>
          <p:nvPr/>
        </p:nvSpPr>
        <p:spPr>
          <a:xfrm>
            <a:off x="5210280" y="43196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4" name="CustomShape 90"/>
          <p:cNvSpPr/>
          <p:nvPr/>
        </p:nvSpPr>
        <p:spPr>
          <a:xfrm>
            <a:off x="5210280" y="48052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5" name="CustomShape 91"/>
          <p:cNvSpPr/>
          <p:nvPr/>
        </p:nvSpPr>
        <p:spPr>
          <a:xfrm>
            <a:off x="5210280" y="52912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6" name="CustomShape 92"/>
          <p:cNvSpPr/>
          <p:nvPr/>
        </p:nvSpPr>
        <p:spPr>
          <a:xfrm>
            <a:off x="5210280" y="57769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7" name="CustomShape 93"/>
          <p:cNvSpPr/>
          <p:nvPr/>
        </p:nvSpPr>
        <p:spPr>
          <a:xfrm>
            <a:off x="5686560" y="16668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8" name="CustomShape 94"/>
          <p:cNvSpPr/>
          <p:nvPr/>
        </p:nvSpPr>
        <p:spPr>
          <a:xfrm>
            <a:off x="5686560" y="21002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9" name="CustomShape 95"/>
          <p:cNvSpPr/>
          <p:nvPr/>
        </p:nvSpPr>
        <p:spPr>
          <a:xfrm>
            <a:off x="5686560" y="25336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0" name="CustomShape 96"/>
          <p:cNvSpPr/>
          <p:nvPr/>
        </p:nvSpPr>
        <p:spPr>
          <a:xfrm>
            <a:off x="5686560" y="29671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1" name="CustomShape 97"/>
          <p:cNvSpPr/>
          <p:nvPr/>
        </p:nvSpPr>
        <p:spPr>
          <a:xfrm>
            <a:off x="5686560" y="34005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2" name="CustomShape 98"/>
          <p:cNvSpPr/>
          <p:nvPr/>
        </p:nvSpPr>
        <p:spPr>
          <a:xfrm>
            <a:off x="5686560" y="38336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3" name="CustomShape 99"/>
          <p:cNvSpPr/>
          <p:nvPr/>
        </p:nvSpPr>
        <p:spPr>
          <a:xfrm>
            <a:off x="5686560" y="43196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4" name="CustomShape 100"/>
          <p:cNvSpPr/>
          <p:nvPr/>
        </p:nvSpPr>
        <p:spPr>
          <a:xfrm>
            <a:off x="5686560" y="48052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5" name="CustomShape 101"/>
          <p:cNvSpPr/>
          <p:nvPr/>
        </p:nvSpPr>
        <p:spPr>
          <a:xfrm>
            <a:off x="5686560" y="52912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6" name="CustomShape 102"/>
          <p:cNvSpPr/>
          <p:nvPr/>
        </p:nvSpPr>
        <p:spPr>
          <a:xfrm>
            <a:off x="5686560" y="57769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7" name="CustomShape 103"/>
          <p:cNvSpPr/>
          <p:nvPr/>
        </p:nvSpPr>
        <p:spPr>
          <a:xfrm>
            <a:off x="6210360" y="16765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8" name="CustomShape 104"/>
          <p:cNvSpPr/>
          <p:nvPr/>
        </p:nvSpPr>
        <p:spPr>
          <a:xfrm>
            <a:off x="6210360" y="21099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9" name="CustomShape 105"/>
          <p:cNvSpPr/>
          <p:nvPr/>
        </p:nvSpPr>
        <p:spPr>
          <a:xfrm>
            <a:off x="6210360" y="25430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0" name="CustomShape 106"/>
          <p:cNvSpPr/>
          <p:nvPr/>
        </p:nvSpPr>
        <p:spPr>
          <a:xfrm>
            <a:off x="6210360" y="29764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1" name="CustomShape 107"/>
          <p:cNvSpPr/>
          <p:nvPr/>
        </p:nvSpPr>
        <p:spPr>
          <a:xfrm>
            <a:off x="6210360" y="34099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2" name="CustomShape 108"/>
          <p:cNvSpPr/>
          <p:nvPr/>
        </p:nvSpPr>
        <p:spPr>
          <a:xfrm>
            <a:off x="6210360" y="38433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3" name="CustomShape 109"/>
          <p:cNvSpPr/>
          <p:nvPr/>
        </p:nvSpPr>
        <p:spPr>
          <a:xfrm>
            <a:off x="6210360" y="43290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4" name="CustomShape 110"/>
          <p:cNvSpPr/>
          <p:nvPr/>
        </p:nvSpPr>
        <p:spPr>
          <a:xfrm>
            <a:off x="6210360" y="48150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5" name="CustomShape 111"/>
          <p:cNvSpPr/>
          <p:nvPr/>
        </p:nvSpPr>
        <p:spPr>
          <a:xfrm>
            <a:off x="6210360" y="53006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6" name="CustomShape 112"/>
          <p:cNvSpPr/>
          <p:nvPr/>
        </p:nvSpPr>
        <p:spPr>
          <a:xfrm>
            <a:off x="6210360" y="57862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7" name="CustomShape 113"/>
          <p:cNvSpPr/>
          <p:nvPr/>
        </p:nvSpPr>
        <p:spPr>
          <a:xfrm>
            <a:off x="6734160" y="16858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8" name="CustomShape 114"/>
          <p:cNvSpPr/>
          <p:nvPr/>
        </p:nvSpPr>
        <p:spPr>
          <a:xfrm>
            <a:off x="6734160" y="21193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9" name="CustomShape 115"/>
          <p:cNvSpPr/>
          <p:nvPr/>
        </p:nvSpPr>
        <p:spPr>
          <a:xfrm>
            <a:off x="6734160" y="25527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0" name="CustomShape 116"/>
          <p:cNvSpPr/>
          <p:nvPr/>
        </p:nvSpPr>
        <p:spPr>
          <a:xfrm>
            <a:off x="6734160" y="29862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1" name="CustomShape 117"/>
          <p:cNvSpPr/>
          <p:nvPr/>
        </p:nvSpPr>
        <p:spPr>
          <a:xfrm>
            <a:off x="6734160" y="34196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2" name="CustomShape 118"/>
          <p:cNvSpPr/>
          <p:nvPr/>
        </p:nvSpPr>
        <p:spPr>
          <a:xfrm>
            <a:off x="6734160" y="38527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3" name="CustomShape 119"/>
          <p:cNvSpPr/>
          <p:nvPr/>
        </p:nvSpPr>
        <p:spPr>
          <a:xfrm>
            <a:off x="6734160" y="43387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4" name="CustomShape 120"/>
          <p:cNvSpPr/>
          <p:nvPr/>
        </p:nvSpPr>
        <p:spPr>
          <a:xfrm>
            <a:off x="6734160" y="48243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5" name="CustomShape 121"/>
          <p:cNvSpPr/>
          <p:nvPr/>
        </p:nvSpPr>
        <p:spPr>
          <a:xfrm>
            <a:off x="6734160" y="53103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6" name="CustomShape 122"/>
          <p:cNvSpPr/>
          <p:nvPr/>
        </p:nvSpPr>
        <p:spPr>
          <a:xfrm>
            <a:off x="6734160" y="57960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7" name="CustomShape 123"/>
          <p:cNvSpPr/>
          <p:nvPr/>
        </p:nvSpPr>
        <p:spPr>
          <a:xfrm>
            <a:off x="7210440" y="16668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8" name="CustomShape 124"/>
          <p:cNvSpPr/>
          <p:nvPr/>
        </p:nvSpPr>
        <p:spPr>
          <a:xfrm>
            <a:off x="7210440" y="21002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9" name="CustomShape 125"/>
          <p:cNvSpPr/>
          <p:nvPr/>
        </p:nvSpPr>
        <p:spPr>
          <a:xfrm>
            <a:off x="7210440" y="25336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0" name="CustomShape 126"/>
          <p:cNvSpPr/>
          <p:nvPr/>
        </p:nvSpPr>
        <p:spPr>
          <a:xfrm>
            <a:off x="7210440" y="29671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1" name="CustomShape 127"/>
          <p:cNvSpPr/>
          <p:nvPr/>
        </p:nvSpPr>
        <p:spPr>
          <a:xfrm>
            <a:off x="7210440" y="34005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2" name="CustomShape 128"/>
          <p:cNvSpPr/>
          <p:nvPr/>
        </p:nvSpPr>
        <p:spPr>
          <a:xfrm>
            <a:off x="7210440" y="38336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3" name="CustomShape 129"/>
          <p:cNvSpPr/>
          <p:nvPr/>
        </p:nvSpPr>
        <p:spPr>
          <a:xfrm>
            <a:off x="7210440" y="43196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4" name="CustomShape 130"/>
          <p:cNvSpPr/>
          <p:nvPr/>
        </p:nvSpPr>
        <p:spPr>
          <a:xfrm>
            <a:off x="7210440" y="48052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5" name="CustomShape 131"/>
          <p:cNvSpPr/>
          <p:nvPr/>
        </p:nvSpPr>
        <p:spPr>
          <a:xfrm>
            <a:off x="7210440" y="52912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6" name="CustomShape 132"/>
          <p:cNvSpPr/>
          <p:nvPr/>
        </p:nvSpPr>
        <p:spPr>
          <a:xfrm>
            <a:off x="7210440" y="57769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7" name="CustomShape 133"/>
          <p:cNvSpPr/>
          <p:nvPr/>
        </p:nvSpPr>
        <p:spPr>
          <a:xfrm>
            <a:off x="7686720" y="16668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8" name="CustomShape 134"/>
          <p:cNvSpPr/>
          <p:nvPr/>
        </p:nvSpPr>
        <p:spPr>
          <a:xfrm>
            <a:off x="7686720" y="21002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9" name="CustomShape 135"/>
          <p:cNvSpPr/>
          <p:nvPr/>
        </p:nvSpPr>
        <p:spPr>
          <a:xfrm>
            <a:off x="7686720" y="25336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0" name="CustomShape 136"/>
          <p:cNvSpPr/>
          <p:nvPr/>
        </p:nvSpPr>
        <p:spPr>
          <a:xfrm>
            <a:off x="7686720" y="29671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1" name="CustomShape 137"/>
          <p:cNvSpPr/>
          <p:nvPr/>
        </p:nvSpPr>
        <p:spPr>
          <a:xfrm>
            <a:off x="7686720" y="34005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2" name="CustomShape 138"/>
          <p:cNvSpPr/>
          <p:nvPr/>
        </p:nvSpPr>
        <p:spPr>
          <a:xfrm>
            <a:off x="7686720" y="38336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3" name="CustomShape 139"/>
          <p:cNvSpPr/>
          <p:nvPr/>
        </p:nvSpPr>
        <p:spPr>
          <a:xfrm>
            <a:off x="7686720" y="43196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4" name="CustomShape 140"/>
          <p:cNvSpPr/>
          <p:nvPr/>
        </p:nvSpPr>
        <p:spPr>
          <a:xfrm>
            <a:off x="7686720" y="48052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5" name="CustomShape 141"/>
          <p:cNvSpPr/>
          <p:nvPr/>
        </p:nvSpPr>
        <p:spPr>
          <a:xfrm>
            <a:off x="7686720" y="52912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6" name="CustomShape 142"/>
          <p:cNvSpPr/>
          <p:nvPr/>
        </p:nvSpPr>
        <p:spPr>
          <a:xfrm>
            <a:off x="7686720" y="57769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7" name="CustomShape 143"/>
          <p:cNvSpPr/>
          <p:nvPr/>
        </p:nvSpPr>
        <p:spPr>
          <a:xfrm>
            <a:off x="8210520" y="16765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8" name="CustomShape 144"/>
          <p:cNvSpPr/>
          <p:nvPr/>
        </p:nvSpPr>
        <p:spPr>
          <a:xfrm>
            <a:off x="8210520" y="21099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9" name="CustomShape 145"/>
          <p:cNvSpPr/>
          <p:nvPr/>
        </p:nvSpPr>
        <p:spPr>
          <a:xfrm>
            <a:off x="8210520" y="25430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0" name="CustomShape 146"/>
          <p:cNvSpPr/>
          <p:nvPr/>
        </p:nvSpPr>
        <p:spPr>
          <a:xfrm>
            <a:off x="8210520" y="29764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1" name="CustomShape 147"/>
          <p:cNvSpPr/>
          <p:nvPr/>
        </p:nvSpPr>
        <p:spPr>
          <a:xfrm>
            <a:off x="8210520" y="34099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2" name="CustomShape 148"/>
          <p:cNvSpPr/>
          <p:nvPr/>
        </p:nvSpPr>
        <p:spPr>
          <a:xfrm>
            <a:off x="8210520" y="38433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3" name="CustomShape 149"/>
          <p:cNvSpPr/>
          <p:nvPr/>
        </p:nvSpPr>
        <p:spPr>
          <a:xfrm>
            <a:off x="8210520" y="43290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4" name="CustomShape 150"/>
          <p:cNvSpPr/>
          <p:nvPr/>
        </p:nvSpPr>
        <p:spPr>
          <a:xfrm>
            <a:off x="8210520" y="48150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5" name="CustomShape 151"/>
          <p:cNvSpPr/>
          <p:nvPr/>
        </p:nvSpPr>
        <p:spPr>
          <a:xfrm>
            <a:off x="8210520" y="53006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6" name="CustomShape 152"/>
          <p:cNvSpPr/>
          <p:nvPr/>
        </p:nvSpPr>
        <p:spPr>
          <a:xfrm>
            <a:off x="8210520" y="57862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7" name="CustomShape 153"/>
          <p:cNvSpPr/>
          <p:nvPr/>
        </p:nvSpPr>
        <p:spPr>
          <a:xfrm>
            <a:off x="8734320" y="168588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8" name="CustomShape 154"/>
          <p:cNvSpPr/>
          <p:nvPr/>
        </p:nvSpPr>
        <p:spPr>
          <a:xfrm>
            <a:off x="8734320" y="21193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9" name="CustomShape 155"/>
          <p:cNvSpPr/>
          <p:nvPr/>
        </p:nvSpPr>
        <p:spPr>
          <a:xfrm>
            <a:off x="8734320" y="25527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0" name="CustomShape 156"/>
          <p:cNvSpPr/>
          <p:nvPr/>
        </p:nvSpPr>
        <p:spPr>
          <a:xfrm>
            <a:off x="8734320" y="29862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1" name="CustomShape 157"/>
          <p:cNvSpPr/>
          <p:nvPr/>
        </p:nvSpPr>
        <p:spPr>
          <a:xfrm>
            <a:off x="8734320" y="341964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2" name="CustomShape 158"/>
          <p:cNvSpPr/>
          <p:nvPr/>
        </p:nvSpPr>
        <p:spPr>
          <a:xfrm>
            <a:off x="8734320" y="38527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3" name="CustomShape 159"/>
          <p:cNvSpPr/>
          <p:nvPr/>
        </p:nvSpPr>
        <p:spPr>
          <a:xfrm>
            <a:off x="8734320" y="433872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4" name="CustomShape 160"/>
          <p:cNvSpPr/>
          <p:nvPr/>
        </p:nvSpPr>
        <p:spPr>
          <a:xfrm>
            <a:off x="8734320" y="48243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5" name="CustomShape 161"/>
          <p:cNvSpPr/>
          <p:nvPr/>
        </p:nvSpPr>
        <p:spPr>
          <a:xfrm>
            <a:off x="8734320" y="531036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6" name="CustomShape 162"/>
          <p:cNvSpPr/>
          <p:nvPr/>
        </p:nvSpPr>
        <p:spPr>
          <a:xfrm>
            <a:off x="8734320" y="5796000"/>
            <a:ext cx="275760" cy="256680"/>
          </a:xfrm>
          <a:prstGeom prst="rect">
            <a:avLst/>
          </a:prstGeom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7" name="Line 163"/>
          <p:cNvSpPr/>
          <p:nvPr/>
        </p:nvSpPr>
        <p:spPr>
          <a:xfrm flipH="1">
            <a:off x="1252440" y="1104840"/>
            <a:ext cx="3824280" cy="50472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8" name="Line 164"/>
          <p:cNvSpPr/>
          <p:nvPr/>
        </p:nvSpPr>
        <p:spPr>
          <a:xfrm flipH="1">
            <a:off x="1776240" y="1157040"/>
            <a:ext cx="3271680" cy="46188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9" name="Line 165"/>
          <p:cNvSpPr/>
          <p:nvPr/>
        </p:nvSpPr>
        <p:spPr>
          <a:xfrm flipH="1">
            <a:off x="2300040" y="1176120"/>
            <a:ext cx="2662200" cy="45252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0" name="Line 166"/>
          <p:cNvSpPr/>
          <p:nvPr/>
        </p:nvSpPr>
        <p:spPr>
          <a:xfrm flipH="1">
            <a:off x="2776320" y="1190520"/>
            <a:ext cx="2185920" cy="43812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1" name="Line 167"/>
          <p:cNvSpPr/>
          <p:nvPr/>
        </p:nvSpPr>
        <p:spPr>
          <a:xfrm>
            <a:off x="5047920" y="1216800"/>
            <a:ext cx="3824280" cy="46908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2" name="Line 168"/>
          <p:cNvSpPr/>
          <p:nvPr/>
        </p:nvSpPr>
        <p:spPr>
          <a:xfrm>
            <a:off x="5047920" y="1190520"/>
            <a:ext cx="3300480" cy="48564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3" name="Line 169"/>
          <p:cNvSpPr/>
          <p:nvPr/>
        </p:nvSpPr>
        <p:spPr>
          <a:xfrm>
            <a:off x="5076720" y="1104840"/>
            <a:ext cx="2747880" cy="56196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4" name="Line 170"/>
          <p:cNvSpPr/>
          <p:nvPr/>
        </p:nvSpPr>
        <p:spPr>
          <a:xfrm>
            <a:off x="5076720" y="1104840"/>
            <a:ext cx="2271600" cy="56196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5" name="Line 171"/>
          <p:cNvSpPr/>
          <p:nvPr/>
        </p:nvSpPr>
        <p:spPr>
          <a:xfrm flipH="1">
            <a:off x="4824360" y="1104840"/>
            <a:ext cx="252360" cy="55224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6" name="Line 172"/>
          <p:cNvSpPr/>
          <p:nvPr/>
        </p:nvSpPr>
        <p:spPr>
          <a:xfrm>
            <a:off x="5045760" y="1190520"/>
            <a:ext cx="302400" cy="47628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7" name="Line 173"/>
          <p:cNvSpPr/>
          <p:nvPr/>
        </p:nvSpPr>
        <p:spPr>
          <a:xfrm flipH="1">
            <a:off x="4300200" y="1190520"/>
            <a:ext cx="671760" cy="45720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8" name="Line 174"/>
          <p:cNvSpPr/>
          <p:nvPr/>
        </p:nvSpPr>
        <p:spPr>
          <a:xfrm>
            <a:off x="5076720" y="1104840"/>
            <a:ext cx="1271520" cy="57132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9" name="Line 175"/>
          <p:cNvSpPr/>
          <p:nvPr/>
        </p:nvSpPr>
        <p:spPr>
          <a:xfrm>
            <a:off x="5076720" y="1104840"/>
            <a:ext cx="747720" cy="56196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0" name="Line 176"/>
          <p:cNvSpPr/>
          <p:nvPr/>
        </p:nvSpPr>
        <p:spPr>
          <a:xfrm flipH="1">
            <a:off x="3824280" y="1176120"/>
            <a:ext cx="1226160" cy="47160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1" name="Line 177"/>
          <p:cNvSpPr/>
          <p:nvPr/>
        </p:nvSpPr>
        <p:spPr>
          <a:xfrm>
            <a:off x="1252440" y="1866600"/>
            <a:ext cx="0" cy="385308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2" name="Line 178"/>
          <p:cNvSpPr/>
          <p:nvPr/>
        </p:nvSpPr>
        <p:spPr>
          <a:xfrm>
            <a:off x="1766880" y="1857240"/>
            <a:ext cx="0" cy="385272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3" name="Line 179"/>
          <p:cNvSpPr/>
          <p:nvPr/>
        </p:nvSpPr>
        <p:spPr>
          <a:xfrm>
            <a:off x="3300120" y="1866600"/>
            <a:ext cx="0" cy="385308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4" name="Line 180"/>
          <p:cNvSpPr/>
          <p:nvPr/>
        </p:nvSpPr>
        <p:spPr>
          <a:xfrm>
            <a:off x="2766960" y="1857240"/>
            <a:ext cx="0" cy="385272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5" name="Line 181"/>
          <p:cNvSpPr/>
          <p:nvPr/>
        </p:nvSpPr>
        <p:spPr>
          <a:xfrm>
            <a:off x="4300200" y="1885680"/>
            <a:ext cx="0" cy="385308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6" name="Line 182"/>
          <p:cNvSpPr/>
          <p:nvPr/>
        </p:nvSpPr>
        <p:spPr>
          <a:xfrm>
            <a:off x="3833640" y="1876320"/>
            <a:ext cx="0" cy="385272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7" name="Line 183"/>
          <p:cNvSpPr/>
          <p:nvPr/>
        </p:nvSpPr>
        <p:spPr>
          <a:xfrm>
            <a:off x="7824600" y="1895400"/>
            <a:ext cx="0" cy="385272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8" name="Line 184"/>
          <p:cNvSpPr/>
          <p:nvPr/>
        </p:nvSpPr>
        <p:spPr>
          <a:xfrm>
            <a:off x="8348400" y="1914480"/>
            <a:ext cx="0" cy="385272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9" name="Line 185"/>
          <p:cNvSpPr/>
          <p:nvPr/>
        </p:nvSpPr>
        <p:spPr>
          <a:xfrm>
            <a:off x="8862840" y="1933560"/>
            <a:ext cx="0" cy="385272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70" name="Line 186"/>
          <p:cNvSpPr/>
          <p:nvPr/>
        </p:nvSpPr>
        <p:spPr>
          <a:xfrm>
            <a:off x="7358040" y="1904760"/>
            <a:ext cx="0" cy="385308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71" name="Line 187"/>
          <p:cNvSpPr/>
          <p:nvPr/>
        </p:nvSpPr>
        <p:spPr>
          <a:xfrm>
            <a:off x="6872040" y="1923840"/>
            <a:ext cx="0" cy="385308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72" name="Line 188"/>
          <p:cNvSpPr/>
          <p:nvPr/>
        </p:nvSpPr>
        <p:spPr>
          <a:xfrm>
            <a:off x="6348240" y="1914480"/>
            <a:ext cx="0" cy="385272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73" name="Line 189"/>
          <p:cNvSpPr/>
          <p:nvPr/>
        </p:nvSpPr>
        <p:spPr>
          <a:xfrm>
            <a:off x="5805360" y="1895400"/>
            <a:ext cx="0" cy="385272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74" name="Line 190"/>
          <p:cNvSpPr/>
          <p:nvPr/>
        </p:nvSpPr>
        <p:spPr>
          <a:xfrm>
            <a:off x="5338440" y="1895400"/>
            <a:ext cx="0" cy="385272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75" name="Line 191"/>
          <p:cNvSpPr/>
          <p:nvPr/>
        </p:nvSpPr>
        <p:spPr>
          <a:xfrm>
            <a:off x="4814640" y="1895400"/>
            <a:ext cx="0" cy="3852720"/>
          </a:xfrm>
          <a:prstGeom prst="line">
            <a:avLst/>
          </a:prstGeom>
          <a:ln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76" name="CustomShape 192"/>
          <p:cNvSpPr/>
          <p:nvPr/>
        </p:nvSpPr>
        <p:spPr>
          <a:xfrm>
            <a:off x="6162840" y="1321560"/>
            <a:ext cx="2957040" cy="5012280"/>
          </a:xfrm>
          <a:prstGeom prst="rect">
            <a:avLst/>
          </a:prstGeom>
          <a:solidFill>
            <a:schemeClr val="accent1">
              <a:alpha val="30000"/>
            </a:scheme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77" name="CustomShape 193"/>
          <p:cNvSpPr/>
          <p:nvPr/>
        </p:nvSpPr>
        <p:spPr>
          <a:xfrm>
            <a:off x="7416720" y="75960"/>
            <a:ext cx="1676160" cy="118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ff0000"/>
                </a:solidFill>
                <a:latin typeface="Trebuchet MS"/>
              </a:rPr>
              <a:t>Avoid losing data - Replicate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78" name="CustomShape 194"/>
          <p:cNvSpPr/>
          <p:nvPr/>
        </p:nvSpPr>
        <p:spPr>
          <a:xfrm flipH="1">
            <a:off x="7640640" y="1276560"/>
            <a:ext cx="613080" cy="44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rnd">
            <a:round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79" name="CustomShape 195"/>
          <p:cNvSpPr/>
          <p:nvPr/>
        </p:nvSpPr>
        <p:spPr>
          <a:xfrm rot="19548600">
            <a:off x="26640" y="328320"/>
            <a:ext cx="2394000" cy="155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ff0000"/>
                </a:solidFill>
                <a:latin typeface="Trebuchet MS"/>
              </a:rPr>
              <a:t>Avoid bottle-neck - Minimum talk with the master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80" name="CustomShape 196"/>
          <p:cNvSpPr/>
          <p:nvPr/>
        </p:nvSpPr>
        <p:spPr>
          <a:xfrm rot="19548600">
            <a:off x="2745360" y="2098800"/>
            <a:ext cx="2574360" cy="301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ff0000"/>
                </a:solidFill>
                <a:latin typeface="Trebuchet MS"/>
              </a:rPr>
              <a:t>Avoid bad performance - Minimum talk between the nodes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Shape 1"/>
          <p:cNvSpPr txBox="1"/>
          <p:nvPr/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NoSQL API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82" name="TextShape 2"/>
          <p:cNvSpPr txBox="1"/>
          <p:nvPr/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404040"/>
                </a:solidFill>
                <a:latin typeface="Trebuchet MS"/>
              </a:rPr>
              <a:t>Main APIs: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404040"/>
                </a:solidFill>
                <a:latin typeface="Trebuchet MS"/>
              </a:rPr>
              <a:t>Get(key)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404040"/>
                </a:solidFill>
                <a:latin typeface="Trebuchet MS"/>
              </a:rPr>
              <a:t>Put(key, value)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404040"/>
                </a:solidFill>
                <a:latin typeface="Trebuchet MS"/>
              </a:rPr>
              <a:t>Delete(key)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TextShape 1"/>
          <p:cNvSpPr txBox="1"/>
          <p:nvPr/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Restrictions (for some open source)</a:t>
            </a:r>
            <a:br/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 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84" name="TextShape 2"/>
          <p:cNvSpPr txBox="1"/>
          <p:nvPr/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404040"/>
                </a:solidFill>
                <a:latin typeface="Trebuchet MS"/>
              </a:rPr>
              <a:t>Mongo DB and Casandra are not 100% scale-out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404040"/>
                </a:solidFill>
                <a:latin typeface="Trebuchet MS"/>
              </a:rPr>
              <a:t>It is possible to scale out to ~100 machines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404040"/>
                </a:solidFill>
                <a:latin typeface="Trebuchet MS"/>
              </a:rPr>
              <a:t>They have never use the Planet-wide-load scenario like in Google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2800" spc="-1" strike="noStrike">
                <a:solidFill>
                  <a:srgbClr val="404040"/>
                </a:solidFill>
                <a:latin typeface="Trebuchet MS"/>
              </a:rPr>
              <a:t>Don’t have the same scalability ability like Google and AWS, but still defeats Oracle</a:t>
            </a:r>
            <a:endParaRPr b="0" lang="en-US" sz="2800" spc="-1" strike="noStrike">
              <a:solidFill>
                <a:srgbClr val="40404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extShape 1"/>
          <p:cNvSpPr txBox="1"/>
          <p:nvPr/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NoSQL DBs example</a:t>
            </a: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	</a:t>
            </a: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	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pic>
        <p:nvPicPr>
          <p:cNvPr id="386" name="Picture 3" descr=""/>
          <p:cNvPicPr/>
          <p:nvPr/>
        </p:nvPicPr>
        <p:blipFill>
          <a:blip r:embed="rId1"/>
          <a:stretch/>
        </p:blipFill>
        <p:spPr>
          <a:xfrm>
            <a:off x="504720" y="1714680"/>
            <a:ext cx="8419680" cy="43048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TextShape 1"/>
          <p:cNvSpPr txBox="1"/>
          <p:nvPr/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NoSQL Standardization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pic>
        <p:nvPicPr>
          <p:cNvPr id="388" name="Picture 3" descr=""/>
          <p:cNvPicPr/>
          <p:nvPr/>
        </p:nvPicPr>
        <p:blipFill>
          <a:blip r:embed="rId1"/>
          <a:stretch/>
        </p:blipFill>
        <p:spPr>
          <a:xfrm>
            <a:off x="1052280" y="1978200"/>
            <a:ext cx="5696280" cy="4269960"/>
          </a:xfrm>
          <a:prstGeom prst="rect">
            <a:avLst/>
          </a:prstGeom>
          <a:ln>
            <a:noFill/>
          </a:ln>
        </p:spPr>
      </p:pic>
      <p:sp>
        <p:nvSpPr>
          <p:cNvPr id="389" name="CustomShape 2"/>
          <p:cNvSpPr/>
          <p:nvPr/>
        </p:nvSpPr>
        <p:spPr>
          <a:xfrm>
            <a:off x="1052280" y="1978200"/>
            <a:ext cx="776160" cy="364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0" name="CustomShape 3"/>
          <p:cNvSpPr/>
          <p:nvPr/>
        </p:nvSpPr>
        <p:spPr>
          <a:xfrm>
            <a:off x="6048360" y="1947960"/>
            <a:ext cx="776160" cy="364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Shape 1"/>
          <p:cNvSpPr txBox="1"/>
          <p:nvPr/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The CAP Theorem – cont.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pic>
        <p:nvPicPr>
          <p:cNvPr id="392" name="Picture 4" descr=""/>
          <p:cNvPicPr/>
          <p:nvPr/>
        </p:nvPicPr>
        <p:blipFill>
          <a:blip r:embed="rId1"/>
          <a:stretch/>
        </p:blipFill>
        <p:spPr>
          <a:xfrm>
            <a:off x="743760" y="1393920"/>
            <a:ext cx="7507440" cy="49964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Picture 3" descr=""/>
          <p:cNvPicPr/>
          <p:nvPr/>
        </p:nvPicPr>
        <p:blipFill>
          <a:blip r:embed="rId1"/>
          <a:stretch/>
        </p:blipFill>
        <p:spPr>
          <a:xfrm>
            <a:off x="866880" y="138240"/>
            <a:ext cx="7981560" cy="5951520"/>
          </a:xfrm>
          <a:prstGeom prst="rect">
            <a:avLst/>
          </a:prstGeom>
          <a:ln>
            <a:noFill/>
          </a:ln>
        </p:spPr>
      </p:pic>
      <p:sp>
        <p:nvSpPr>
          <p:cNvPr id="394" name="CustomShape 1"/>
          <p:cNvSpPr/>
          <p:nvPr/>
        </p:nvSpPr>
        <p:spPr>
          <a:xfrm>
            <a:off x="666720" y="138240"/>
            <a:ext cx="1437840" cy="528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5" name="CustomShape 2"/>
          <p:cNvSpPr/>
          <p:nvPr/>
        </p:nvSpPr>
        <p:spPr>
          <a:xfrm>
            <a:off x="7705800" y="138240"/>
            <a:ext cx="1437840" cy="528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6" name="CustomShape 3"/>
          <p:cNvSpPr/>
          <p:nvPr/>
        </p:nvSpPr>
        <p:spPr>
          <a:xfrm>
            <a:off x="7210440" y="5481720"/>
            <a:ext cx="1437840" cy="528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7" name="CustomShape 4"/>
          <p:cNvSpPr/>
          <p:nvPr/>
        </p:nvSpPr>
        <p:spPr>
          <a:xfrm>
            <a:off x="3162240" y="5745960"/>
            <a:ext cx="2933280" cy="45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8" name="CustomShape 5"/>
          <p:cNvSpPr/>
          <p:nvPr/>
        </p:nvSpPr>
        <p:spPr>
          <a:xfrm>
            <a:off x="666720" y="5295960"/>
            <a:ext cx="999720" cy="793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9" name="CustomShape 6"/>
          <p:cNvSpPr/>
          <p:nvPr/>
        </p:nvSpPr>
        <p:spPr>
          <a:xfrm>
            <a:off x="3733920" y="2152800"/>
            <a:ext cx="1314000" cy="45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Picture 3" descr=""/>
          <p:cNvPicPr/>
          <p:nvPr/>
        </p:nvPicPr>
        <p:blipFill>
          <a:blip r:embed="rId1"/>
          <a:stretch/>
        </p:blipFill>
        <p:spPr>
          <a:xfrm>
            <a:off x="5966640" y="693720"/>
            <a:ext cx="5100840" cy="3295080"/>
          </a:xfrm>
          <a:prstGeom prst="rect">
            <a:avLst/>
          </a:prstGeom>
          <a:ln>
            <a:noFill/>
          </a:ln>
        </p:spPr>
      </p:pic>
      <p:sp>
        <p:nvSpPr>
          <p:cNvPr id="401" name="TextShape 1"/>
          <p:cNvSpPr txBox="1"/>
          <p:nvPr/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</a:rPr>
              <a:t>Google Spanner</a:t>
            </a:r>
            <a:endParaRPr b="0" lang="en-US" sz="3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02" name="TextShape 2"/>
          <p:cNvSpPr txBox="1"/>
          <p:nvPr/>
        </p:nvSpPr>
        <p:spPr>
          <a:xfrm>
            <a:off x="677160" y="1780920"/>
            <a:ext cx="8596440" cy="388044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1000"/>
          </a:bodyPr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US" sz="2000" spc="-1" strike="noStrike">
                <a:solidFill>
                  <a:srgbClr val="ff0000"/>
                </a:solidFill>
                <a:latin typeface="Trebuchet MS"/>
              </a:rPr>
              <a:t>The problem</a:t>
            </a: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: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457200">
              <a:lnSpc>
                <a:spcPct val="10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Synchronize of data centers killed 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457200">
              <a:lnSpc>
                <a:spcPct val="10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performance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457200">
              <a:lnSpc>
                <a:spcPct val="10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457200">
              <a:lnSpc>
                <a:spcPct val="10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343080" indent="-34272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1" lang="en-US" sz="2000" spc="-1" strike="noStrike">
                <a:solidFill>
                  <a:srgbClr val="42b051"/>
                </a:solidFill>
                <a:latin typeface="Trebuchet MS"/>
              </a:rPr>
              <a:t>The Solution</a:t>
            </a: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: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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Creating a new hardware with atomic clocks.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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A new architecture with no master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lvl="1" marL="743040" indent="-2854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"/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By doing that, consistency is possible with quite good performance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457200">
              <a:lnSpc>
                <a:spcPct val="10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rgbClr val="404040"/>
                </a:solidFill>
                <a:latin typeface="Trebuchet MS"/>
              </a:rPr>
              <a:t>- A system can support CAP</a:t>
            </a: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457200">
              <a:lnSpc>
                <a:spcPct val="10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  <a:p>
            <a:pPr marL="457200">
              <a:lnSpc>
                <a:spcPct val="10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404040"/>
              </a:solidFill>
              <a:latin typeface="Trebuchet MS"/>
            </a:endParaRPr>
          </a:p>
        </p:txBody>
      </p:sp>
      <p:sp>
        <p:nvSpPr>
          <p:cNvPr id="403" name="CustomShape 3"/>
          <p:cNvSpPr/>
          <p:nvPr/>
        </p:nvSpPr>
        <p:spPr>
          <a:xfrm>
            <a:off x="5883480" y="693720"/>
            <a:ext cx="5184360" cy="3287520"/>
          </a:xfrm>
          <a:prstGeom prst="rect">
            <a:avLst/>
          </a:prstGeom>
          <a:solidFill>
            <a:schemeClr val="accent1">
              <a:alpha val="13000"/>
            </a:scheme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CustomShape 1"/>
          <p:cNvSpPr/>
          <p:nvPr/>
        </p:nvSpPr>
        <p:spPr>
          <a:xfrm>
            <a:off x="1133640" y="1228680"/>
            <a:ext cx="7876800" cy="4076280"/>
          </a:xfrm>
          <a:prstGeom prst="roundRect">
            <a:avLst>
              <a:gd name="adj" fmla="val 16667"/>
            </a:avLst>
          </a:prstGeom>
          <a:solidFill>
            <a:srgbClr val="ffff00">
              <a:alpha val="31000"/>
            </a:srgbClr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05" name="CustomShape 2"/>
          <p:cNvSpPr/>
          <p:nvPr/>
        </p:nvSpPr>
        <p:spPr>
          <a:xfrm>
            <a:off x="2371680" y="1810800"/>
            <a:ext cx="5581440" cy="252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8000" spc="-1" strike="noStrike">
                <a:solidFill>
                  <a:srgbClr val="92d050"/>
                </a:solidFill>
                <a:latin typeface="Trebuchet MS"/>
              </a:rPr>
              <a:t>Thank you for joining</a:t>
            </a:r>
            <a:endParaRPr b="0" lang="en-US" sz="8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8145</TotalTime>
  <Application>LibreOffice/6.3.3.2$Linux_X86_64 LibreOffice_project/30$Build-2</Application>
  <Words>973</Words>
  <Paragraphs>197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2019-11-22T18:06:34Z</dcterms:created>
  <dc:creator>Daniel, Hezi</dc:creator>
  <dc:description/>
  <dc:language>en-US</dc:language>
  <cp:lastModifiedBy>Daniel, Hezi</cp:lastModifiedBy>
  <dcterms:modified xsi:type="dcterms:W3CDTF">2019-11-28T13:23:09Z</dcterms:modified>
  <cp:revision>153</cp:revision>
  <dc:subject/>
  <dc:title>Databases       RDBMS vs. NoSQL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34</vt:i4>
  </property>
</Properties>
</file>